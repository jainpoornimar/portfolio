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75" r:id="rId5"/>
    <p:sldId id="259" r:id="rId6"/>
    <p:sldId id="261" r:id="rId7"/>
    <p:sldId id="265" r:id="rId8"/>
    <p:sldId id="266" r:id="rId9"/>
    <p:sldId id="267" r:id="rId10"/>
    <p:sldId id="276" r:id="rId11"/>
    <p:sldId id="277" r:id="rId12"/>
    <p:sldId id="279" r:id="rId13"/>
    <p:sldId id="280" r:id="rId14"/>
    <p:sldId id="281" r:id="rId15"/>
    <p:sldId id="272" r:id="rId16"/>
    <p:sldId id="273" r:id="rId17"/>
    <p:sldId id="274" r:id="rId18"/>
  </p:sldIdLst>
  <p:sldSz cx="9144000" cy="6858000" type="screen4x3"/>
  <p:notesSz cx="6858000" cy="9144000"/>
  <p:embeddedFontLst>
    <p:embeddedFont>
      <p:font typeface="Tahoma" panose="020B0604030504040204" pitchFamily="3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VH/PFomhr2AiVhqSzFu9eaPmu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F4BD524-B28D-46AB-9D58-1E6222F5F8D4}">
  <a:tblStyle styleId="{EF4BD524-B28D-46AB-9D58-1E6222F5F8D4}"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9F9F9"/>
          </a:solidFill>
        </a:fill>
      </a:tcStyle>
    </a:wholeTbl>
    <a:band1H>
      <a:tcTxStyle/>
      <a:tcStyle>
        <a:tcBdr/>
        <a:fill>
          <a:solidFill>
            <a:srgbClr val="F2F2F2"/>
          </a:solidFill>
        </a:fill>
      </a:tcStyle>
    </a:band1H>
    <a:band2H>
      <a:tcTxStyle/>
      <a:tcStyle>
        <a:tcBdr/>
      </a:tcStyle>
    </a:band2H>
    <a:band1V>
      <a:tcTxStyle/>
      <a:tcStyle>
        <a:tcBdr/>
        <a:fill>
          <a:solidFill>
            <a:srgbClr val="F2F2F2"/>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79" autoAdjust="0"/>
    <p:restoredTop sz="94660"/>
  </p:normalViewPr>
  <p:slideViewPr>
    <p:cSldViewPr snapToGrid="0">
      <p:cViewPr varScale="1">
        <p:scale>
          <a:sx n="67" d="100"/>
          <a:sy n="67" d="100"/>
        </p:scale>
        <p:origin x="171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1200"/>
                <a:buFont typeface="Arial"/>
                <a:buNone/>
              </a:p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ahoma"/>
              <a:buNone/>
            </a:pPr>
            <a:fld id="{00000000-1234-1234-1234-123412341234}" type="slidenum">
              <a:rPr lang="en-US" sz="2400" b="0" i="0" u="none" strike="noStrike" cap="none">
                <a:solidFill>
                  <a:srgbClr val="000000"/>
                </a:solidFill>
                <a:latin typeface="Tahoma"/>
                <a:ea typeface="Tahoma"/>
                <a:cs typeface="Tahoma"/>
                <a:sym typeface="Tahoma"/>
              </a:rPr>
              <a:pPr marL="0" marR="0" lvl="0" indent="0" algn="r" rtl="0">
                <a:lnSpc>
                  <a:spcPct val="100000"/>
                </a:lnSpc>
                <a:spcBef>
                  <a:spcPts val="0"/>
                </a:spcBef>
                <a:spcAft>
                  <a:spcPts val="0"/>
                </a:spcAft>
                <a:buClr>
                  <a:srgbClr val="000000"/>
                </a:buClr>
                <a:buSzPts val="2400"/>
                <a:buFont typeface="Tahoma"/>
                <a:buNone/>
              </a:pPr>
              <a:t>1</a:t>
            </a:fld>
            <a:endParaRPr sz="1400" b="0" i="0" u="none" strike="noStrike" cap="none">
              <a:solidFill>
                <a:srgbClr val="000000"/>
              </a:solidFill>
              <a:latin typeface="Arial"/>
              <a:ea typeface="Arial"/>
              <a:cs typeface="Arial"/>
              <a:sym typeface="Arial"/>
            </a:endParaRPr>
          </a:p>
        </p:txBody>
      </p:sp>
      <p:sp>
        <p:nvSpPr>
          <p:cNvPr id="68" name="Google Shape;6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 name="Google Shape;6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ahoma"/>
              <a:buNone/>
            </a:pPr>
            <a:fld id="{00000000-1234-1234-1234-123412341234}" type="slidenum">
              <a:rPr lang="en-US" sz="2400" b="0" i="0" u="none" strike="noStrike" cap="none">
                <a:solidFill>
                  <a:srgbClr val="000000"/>
                </a:solidFill>
                <a:latin typeface="Tahoma"/>
                <a:ea typeface="Tahoma"/>
                <a:cs typeface="Tahoma"/>
                <a:sym typeface="Tahoma"/>
              </a:rPr>
              <a:pPr marL="0" marR="0" lvl="0" indent="0" algn="r" rtl="0">
                <a:lnSpc>
                  <a:spcPct val="100000"/>
                </a:lnSpc>
                <a:spcBef>
                  <a:spcPts val="0"/>
                </a:spcBef>
                <a:spcAft>
                  <a:spcPts val="0"/>
                </a:spcAft>
                <a:buClr>
                  <a:srgbClr val="000000"/>
                </a:buClr>
                <a:buSzPts val="2400"/>
                <a:buFont typeface="Tahoma"/>
                <a:buNone/>
              </a:pPr>
              <a:t>2</a:t>
            </a:fld>
            <a:endParaRPr sz="1400" b="0" i="0" u="none" strike="noStrike" cap="none">
              <a:solidFill>
                <a:srgbClr val="000000"/>
              </a:solidFill>
              <a:latin typeface="Arial"/>
              <a:ea typeface="Arial"/>
              <a:cs typeface="Arial"/>
              <a:sym typeface="Arial"/>
            </a:endParaRPr>
          </a:p>
        </p:txBody>
      </p:sp>
      <p:sp>
        <p:nvSpPr>
          <p:cNvPr id="77" name="Google Shape;77;p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ahoma"/>
              <a:buNone/>
            </a:pPr>
            <a:fld id="{00000000-1234-1234-1234-123412341234}" type="slidenum">
              <a:rPr lang="en-US" sz="2400" b="0" i="0" u="none" strike="noStrike" cap="none">
                <a:solidFill>
                  <a:srgbClr val="000000"/>
                </a:solidFill>
                <a:latin typeface="Tahoma"/>
                <a:ea typeface="Tahoma"/>
                <a:cs typeface="Tahoma"/>
                <a:sym typeface="Tahoma"/>
              </a:rPr>
              <a:pPr marL="0" marR="0" lvl="0" indent="0" algn="r" rtl="0">
                <a:lnSpc>
                  <a:spcPct val="100000"/>
                </a:lnSpc>
                <a:spcBef>
                  <a:spcPts val="0"/>
                </a:spcBef>
                <a:spcAft>
                  <a:spcPts val="0"/>
                </a:spcAft>
                <a:buClr>
                  <a:srgbClr val="000000"/>
                </a:buClr>
                <a:buSzPts val="2400"/>
                <a:buFont typeface="Tahoma"/>
                <a:buNone/>
              </a:pPr>
              <a:t>2</a:t>
            </a:fld>
            <a:endParaRPr sz="1400" b="0" i="0" u="none" strike="noStrike" cap="none">
              <a:solidFill>
                <a:srgbClr val="000000"/>
              </a:solidFill>
              <a:latin typeface="Arial"/>
              <a:ea typeface="Arial"/>
              <a:cs typeface="Arial"/>
              <a:sym typeface="Arial"/>
            </a:endParaRPr>
          </a:p>
        </p:txBody>
      </p:sp>
      <p:sp>
        <p:nvSpPr>
          <p:cNvPr id="78" name="Google Shape;7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240"/>
              </a:spcBef>
              <a:spcAft>
                <a:spcPts val="0"/>
              </a:spcAft>
              <a:buSzPts val="1400"/>
              <a:buNone/>
              <a:defRPr sz="1200">
                <a:solidFill>
                  <a:srgbClr val="898989"/>
                </a:solidFill>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2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240"/>
              </a:spcBef>
              <a:spcAft>
                <a:spcPts val="0"/>
              </a:spcAft>
              <a:buSzPts val="1400"/>
              <a:buNone/>
              <a:defRPr sz="1200">
                <a:solidFill>
                  <a:srgbClr val="898989"/>
                </a:solidFill>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7" name="Google Shape;27;p2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8" name="Google Shape;28;p2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240"/>
              </a:spcBef>
              <a:spcAft>
                <a:spcPts val="0"/>
              </a:spcAft>
              <a:buSzPts val="1400"/>
              <a:buNone/>
              <a:defRPr sz="1200">
                <a:solidFill>
                  <a:srgbClr val="898989"/>
                </a:solidFill>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1"/>
        <p:cNvGrpSpPr/>
        <p:nvPr/>
      </p:nvGrpSpPr>
      <p:grpSpPr>
        <a:xfrm>
          <a:off x="0" y="0"/>
          <a:ext cx="0" cy="0"/>
          <a:chOff x="0" y="0"/>
          <a:chExt cx="0" cy="0"/>
        </a:xfrm>
      </p:grpSpPr>
      <p:sp>
        <p:nvSpPr>
          <p:cNvPr id="32" name="Google Shape;32;p24"/>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3" name="Google Shape;33;p24"/>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4" name="Google Shape;34;p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240"/>
              </a:spcBef>
              <a:spcAft>
                <a:spcPts val="0"/>
              </a:spcAft>
              <a:buSzPts val="1400"/>
              <a:buNone/>
              <a:defRPr sz="1200">
                <a:solidFill>
                  <a:srgbClr val="898989"/>
                </a:solidFill>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7"/>
        <p:cNvGrpSpPr/>
        <p:nvPr/>
      </p:nvGrpSpPr>
      <p:grpSpPr>
        <a:xfrm>
          <a:off x="0" y="0"/>
          <a:ext cx="0" cy="0"/>
          <a:chOff x="0" y="0"/>
          <a:chExt cx="0" cy="0"/>
        </a:xfrm>
      </p:grpSpPr>
      <p:sp>
        <p:nvSpPr>
          <p:cNvPr id="38" name="Google Shape;38;p2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 name="Google Shape;39;p25"/>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0" name="Google Shape;40;p2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240"/>
              </a:spcBef>
              <a:spcAft>
                <a:spcPts val="0"/>
              </a:spcAft>
              <a:buSzPts val="1400"/>
              <a:buNone/>
              <a:defRPr sz="1200">
                <a:solidFill>
                  <a:srgbClr val="898989"/>
                </a:solidFill>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
        <p:cNvGrpSpPr/>
        <p:nvPr/>
      </p:nvGrpSpPr>
      <p:grpSpPr>
        <a:xfrm>
          <a:off x="0" y="0"/>
          <a:ext cx="0" cy="0"/>
          <a:chOff x="0" y="0"/>
          <a:chExt cx="0" cy="0"/>
        </a:xfrm>
      </p:grpSpPr>
      <p:sp>
        <p:nvSpPr>
          <p:cNvPr id="44" name="Google Shape;44;p26"/>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5" name="Google Shape;45;p26"/>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46" name="Google Shape;46;p26"/>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7" name="Google Shape;47;p2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240"/>
              </a:spcBef>
              <a:spcAft>
                <a:spcPts val="0"/>
              </a:spcAft>
              <a:buSzPts val="1400"/>
              <a:buNone/>
              <a:defRPr sz="1200">
                <a:solidFill>
                  <a:srgbClr val="898989"/>
                </a:solidFill>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2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2" name="Google Shape;52;p2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3" name="Google Shape;53;p2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4" name="Google Shape;54;p2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5" name="Google Shape;55;p2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6" name="Google Shape;56;p2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240"/>
              </a:spcBef>
              <a:spcAft>
                <a:spcPts val="0"/>
              </a:spcAft>
              <a:buSzPts val="1400"/>
              <a:buNone/>
              <a:defRPr sz="1200">
                <a:solidFill>
                  <a:srgbClr val="898989"/>
                </a:solidFill>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9"/>
        <p:cNvGrpSpPr/>
        <p:nvPr/>
      </p:nvGrpSpPr>
      <p:grpSpPr>
        <a:xfrm>
          <a:off x="0" y="0"/>
          <a:ext cx="0" cy="0"/>
          <a:chOff x="0" y="0"/>
          <a:chExt cx="0" cy="0"/>
        </a:xfrm>
      </p:grpSpPr>
      <p:sp>
        <p:nvSpPr>
          <p:cNvPr id="60" name="Google Shape;60;p2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1" name="Google Shape;61;p28"/>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62" name="Google Shape;62;p28"/>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63" name="Google Shape;63;p2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240"/>
              </a:spcBef>
              <a:spcAft>
                <a:spcPts val="0"/>
              </a:spcAft>
              <a:buSzPts val="1400"/>
              <a:buNone/>
              <a:defRPr sz="1200">
                <a:solidFill>
                  <a:srgbClr val="898989"/>
                </a:solidFill>
              </a:defRPr>
            </a:lvl1pPr>
            <a:lvl2pPr lvl="1" algn="l">
              <a:lnSpc>
                <a:spcPct val="100000"/>
              </a:lnSpc>
              <a:spcBef>
                <a:spcPts val="90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20"/>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9pPr>
          </a:lstStyle>
          <a:p>
            <a:endParaRPr/>
          </a:p>
        </p:txBody>
      </p:sp>
      <p:sp>
        <p:nvSpPr>
          <p:cNvPr id="13" name="Google Shape;13;p2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240"/>
              </a:spcBef>
              <a:spcAft>
                <a:spcPts val="0"/>
              </a:spcAft>
              <a:buClr>
                <a:srgbClr val="000000"/>
              </a:buClr>
              <a:buSzPts val="1400"/>
              <a:buFont typeface="Arial"/>
              <a:buNone/>
              <a:defRPr sz="1200" b="0" i="0" u="none" strike="noStrike" cap="none">
                <a:solidFill>
                  <a:srgbClr val="898989"/>
                </a:solidFill>
                <a:latin typeface="Tahoma"/>
                <a:ea typeface="Tahoma"/>
                <a:cs typeface="Tahoma"/>
                <a:sym typeface="Tahoma"/>
              </a:defRPr>
            </a:lvl1pPr>
            <a:lvl2pPr marR="0" lvl="1" algn="l" rtl="0">
              <a:lnSpc>
                <a:spcPct val="100000"/>
              </a:lnSpc>
              <a:spcBef>
                <a:spcPts val="90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ahoma"/>
                <a:ea typeface="Tahoma"/>
                <a:cs typeface="Tahoma"/>
                <a:sym typeface="Tahoma"/>
              </a:defRPr>
            </a:lvl9pPr>
          </a:lstStyle>
          <a:p>
            <a:endParaRPr/>
          </a:p>
        </p:txBody>
      </p:sp>
      <p:sp>
        <p:nvSpPr>
          <p:cNvPr id="14" name="Google Shape;14;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ransition spd="med">
    <p:wipe dir="d"/>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
          <p:cNvSpPr txBox="1">
            <a:spLocks noGrp="1"/>
          </p:cNvSpPr>
          <p:nvPr>
            <p:ph type="ctrTitle"/>
          </p:nvPr>
        </p:nvSpPr>
        <p:spPr>
          <a:xfrm>
            <a:off x="269875" y="250825"/>
            <a:ext cx="8604300" cy="974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0000"/>
              </a:buClr>
              <a:buSzPct val="111111"/>
              <a:buFont typeface="Times New Roman"/>
              <a:buNone/>
            </a:pPr>
            <a:br>
              <a:rPr lang="en-US" sz="4000" b="1" i="0" u="none">
                <a:solidFill>
                  <a:srgbClr val="000000"/>
                </a:solidFill>
                <a:latin typeface="Times New Roman"/>
                <a:ea typeface="Times New Roman"/>
                <a:cs typeface="Times New Roman"/>
                <a:sym typeface="Times New Roman"/>
              </a:rPr>
            </a:br>
            <a:r>
              <a:rPr lang="en-US" sz="4400" b="1" i="0" u="none">
                <a:solidFill>
                  <a:srgbClr val="000000"/>
                </a:solidFill>
                <a:latin typeface="Times New Roman"/>
                <a:ea typeface="Times New Roman"/>
                <a:cs typeface="Times New Roman"/>
                <a:sym typeface="Times New Roman"/>
              </a:rPr>
              <a:t>SDM Institute of Technology ,Ujire</a:t>
            </a:r>
            <a:br>
              <a:rPr lang="en-US" sz="4400" b="1" i="0" u="none">
                <a:solidFill>
                  <a:srgbClr val="000000"/>
                </a:solidFill>
                <a:latin typeface="Times New Roman"/>
                <a:ea typeface="Times New Roman"/>
                <a:cs typeface="Times New Roman"/>
                <a:sym typeface="Times New Roman"/>
              </a:rPr>
            </a:br>
            <a:r>
              <a:rPr lang="en-US" sz="2900" b="1" i="0" u="none">
                <a:solidFill>
                  <a:srgbClr val="000000"/>
                </a:solidFill>
                <a:latin typeface="Times New Roman"/>
                <a:ea typeface="Times New Roman"/>
                <a:cs typeface="Times New Roman"/>
                <a:sym typeface="Times New Roman"/>
              </a:rPr>
              <a:t>Department of Computer Science and Engineering</a:t>
            </a:r>
            <a:br>
              <a:rPr lang="en-US" sz="2900" b="1" i="0" u="none">
                <a:solidFill>
                  <a:srgbClr val="000000"/>
                </a:solidFill>
                <a:latin typeface="Times New Roman"/>
                <a:ea typeface="Times New Roman"/>
                <a:cs typeface="Times New Roman"/>
                <a:sym typeface="Times New Roman"/>
              </a:rPr>
            </a:br>
            <a:endParaRPr/>
          </a:p>
        </p:txBody>
      </p:sp>
      <p:sp>
        <p:nvSpPr>
          <p:cNvPr id="72" name="Google Shape;72;p1"/>
          <p:cNvSpPr txBox="1"/>
          <p:nvPr/>
        </p:nvSpPr>
        <p:spPr>
          <a:xfrm>
            <a:off x="464024" y="4159814"/>
            <a:ext cx="8311486" cy="523180"/>
          </a:xfrm>
          <a:prstGeom prst="rect">
            <a:avLst/>
          </a:prstGeom>
          <a:noFill/>
          <a:ln>
            <a:noFill/>
          </a:ln>
        </p:spPr>
        <p:txBody>
          <a:bodyPr spcFirstLastPara="1" wrap="square" lIns="91425" tIns="45700" rIns="91425" bIns="45700" anchor="t" anchorCtr="0">
            <a:spAutoFit/>
          </a:bodyPr>
          <a:lstStyle/>
          <a:p>
            <a:pPr lvl="0" algn="ctr">
              <a:buClr>
                <a:schemeClr val="dk1"/>
              </a:buClr>
              <a:buSzPts val="3600"/>
            </a:pPr>
            <a:r>
              <a:rPr lang="en-US" sz="2800" b="1" i="0" u="none" strike="noStrike" cap="none" dirty="0">
                <a:solidFill>
                  <a:schemeClr val="dk1"/>
                </a:solidFill>
                <a:latin typeface="Times New Roman" pitchFamily="18" charset="0"/>
                <a:ea typeface="Times New Roman"/>
                <a:cs typeface="Times New Roman" pitchFamily="18" charset="0"/>
                <a:sym typeface="Times New Roman"/>
              </a:rPr>
              <a:t>“MULTIPLE DISEASE PREDICTION SYSTEM”</a:t>
            </a:r>
            <a:endParaRPr sz="2800" b="1" i="0" u="none" strike="noStrike" cap="none" dirty="0">
              <a:solidFill>
                <a:srgbClr val="000000"/>
              </a:solidFill>
              <a:latin typeface="Times New Roman" pitchFamily="18" charset="0"/>
              <a:cs typeface="Times New Roman" pitchFamily="18" charset="0"/>
              <a:sym typeface="Arial"/>
            </a:endParaRPr>
          </a:p>
        </p:txBody>
      </p:sp>
      <p:sp>
        <p:nvSpPr>
          <p:cNvPr id="73" name="Google Shape;73;p1"/>
          <p:cNvSpPr txBox="1"/>
          <p:nvPr/>
        </p:nvSpPr>
        <p:spPr>
          <a:xfrm>
            <a:off x="6032310" y="4822371"/>
            <a:ext cx="2841863" cy="17901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1" i="0" u="sng" strike="noStrike" cap="none" dirty="0">
                <a:solidFill>
                  <a:schemeClr val="dk1"/>
                </a:solidFill>
                <a:latin typeface="Times New Roman"/>
                <a:ea typeface="Times New Roman"/>
                <a:cs typeface="Times New Roman"/>
                <a:sym typeface="Times New Roman"/>
              </a:rPr>
              <a:t>Presented by</a:t>
            </a:r>
            <a:r>
              <a:rPr lang="en-US" sz="2400" b="1" i="0" u="none" strike="noStrike" cap="none" dirty="0">
                <a:solidFill>
                  <a:schemeClr val="dk1"/>
                </a:solidFill>
                <a:latin typeface="Times New Roman"/>
                <a:ea typeface="Times New Roman"/>
                <a:cs typeface="Times New Roman"/>
                <a:sym typeface="Times New Roman"/>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2280"/>
              </a:spcBef>
              <a:spcAft>
                <a:spcPts val="0"/>
              </a:spcAft>
              <a:buClr>
                <a:schemeClr val="dk1"/>
              </a:buClr>
              <a:buSzPts val="2400"/>
              <a:buFont typeface="Times New Roman"/>
              <a:buNone/>
            </a:pPr>
            <a:r>
              <a:rPr lang="en-IN" sz="2400" b="1" dirty="0">
                <a:solidFill>
                  <a:schemeClr val="dk1"/>
                </a:solidFill>
                <a:latin typeface="Times New Roman"/>
                <a:cs typeface="Times New Roman"/>
                <a:sym typeface="Times New Roman"/>
              </a:rPr>
              <a:t>Poornima</a:t>
            </a:r>
            <a:endParaRPr lang="en-IN" sz="2400" b="1" i="0" u="none" strike="noStrike" cap="none" dirty="0">
              <a:solidFill>
                <a:schemeClr val="dk1"/>
              </a:solidFill>
              <a:latin typeface="Times New Roman"/>
              <a:ea typeface="Arial"/>
              <a:cs typeface="Times New Roman"/>
              <a:sym typeface="Times New Roman"/>
            </a:endParaRPr>
          </a:p>
          <a:p>
            <a:pPr marL="0" marR="0" lvl="0" indent="0" algn="l" rtl="0">
              <a:lnSpc>
                <a:spcPct val="100000"/>
              </a:lnSpc>
              <a:spcBef>
                <a:spcPts val="2280"/>
              </a:spcBef>
              <a:spcAft>
                <a:spcPts val="0"/>
              </a:spcAft>
              <a:buClr>
                <a:schemeClr val="dk1"/>
              </a:buClr>
              <a:buSzPts val="2400"/>
              <a:buFont typeface="Times New Roman"/>
              <a:buNone/>
            </a:pPr>
            <a:r>
              <a:rPr lang="en-US" sz="2400" b="1" i="0" u="none" strike="noStrike" cap="none" dirty="0">
                <a:solidFill>
                  <a:schemeClr val="dk1"/>
                </a:solidFill>
                <a:latin typeface="Times New Roman"/>
                <a:ea typeface="Times New Roman"/>
                <a:cs typeface="Times New Roman"/>
                <a:sym typeface="Times New Roman"/>
              </a:rPr>
              <a:t>4SU20CS065</a:t>
            </a:r>
            <a:endParaRPr sz="1400" b="0" i="0" u="none" strike="noStrike" cap="none" dirty="0">
              <a:solidFill>
                <a:srgbClr val="000000"/>
              </a:solidFill>
              <a:latin typeface="Arial"/>
              <a:ea typeface="Arial"/>
              <a:cs typeface="Arial"/>
              <a:sym typeface="Arial"/>
            </a:endParaRPr>
          </a:p>
        </p:txBody>
      </p:sp>
      <p:pic>
        <p:nvPicPr>
          <p:cNvPr id="74" name="Google Shape;74;p1" descr="logo.jpg"/>
          <p:cNvPicPr preferRelativeResize="0"/>
          <p:nvPr/>
        </p:nvPicPr>
        <p:blipFill rotWithShape="1">
          <a:blip r:embed="rId3">
            <a:alphaModFix/>
          </a:blip>
          <a:srcRect/>
          <a:stretch/>
        </p:blipFill>
        <p:spPr>
          <a:xfrm>
            <a:off x="3533774" y="1590805"/>
            <a:ext cx="2019299" cy="19609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2"/>
          <p:cNvSpPr txBox="1">
            <a:spLocks noGrp="1"/>
          </p:cNvSpPr>
          <p:nvPr>
            <p:ph type="title" idx="4294967295"/>
          </p:nvPr>
        </p:nvSpPr>
        <p:spPr>
          <a:xfrm>
            <a:off x="0" y="76200"/>
            <a:ext cx="82296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Contents</a:t>
            </a:r>
            <a:endParaRPr/>
          </a:p>
        </p:txBody>
      </p:sp>
      <p:sp>
        <p:nvSpPr>
          <p:cNvPr id="82" name="Google Shape;82;p2"/>
          <p:cNvSpPr txBox="1"/>
          <p:nvPr/>
        </p:nvSpPr>
        <p:spPr>
          <a:xfrm>
            <a:off x="479425" y="865187"/>
            <a:ext cx="7269300" cy="51090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 Introduction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280"/>
              </a:spcBef>
              <a:spcAft>
                <a:spcPts val="0"/>
              </a:spcAft>
              <a:buNone/>
            </a:pPr>
            <a:r>
              <a:rPr lang="en-US" sz="2400" b="0" i="0" u="none" strike="noStrike" cap="none">
                <a:solidFill>
                  <a:schemeClr val="dk1"/>
                </a:solidFill>
                <a:latin typeface="Times New Roman"/>
                <a:ea typeface="Times New Roman"/>
                <a:cs typeface="Times New Roman"/>
                <a:sym typeface="Times New Roman"/>
              </a:rPr>
              <a:t>2.</a:t>
            </a:r>
            <a:r>
              <a:rPr lang="en-US" sz="2400" b="0" i="0" u="none" strike="noStrike" cap="none">
                <a:solidFill>
                  <a:srgbClr val="000000"/>
                </a:solidFill>
                <a:latin typeface="Times New Roman"/>
                <a:ea typeface="Times New Roman"/>
                <a:cs typeface="Times New Roman"/>
                <a:sym typeface="Times New Roman"/>
              </a:rPr>
              <a:t> About company </a:t>
            </a: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2280"/>
              </a:spcBef>
              <a:spcAft>
                <a:spcPts val="0"/>
              </a:spcAft>
              <a:buNone/>
            </a:pPr>
            <a:r>
              <a:rPr lang="en-US" sz="2400" b="0" i="0" u="none" strike="noStrike" cap="none">
                <a:solidFill>
                  <a:schemeClr val="dk1"/>
                </a:solidFill>
                <a:latin typeface="Times New Roman"/>
                <a:ea typeface="Times New Roman"/>
                <a:cs typeface="Times New Roman"/>
                <a:sym typeface="Times New Roman"/>
              </a:rPr>
              <a:t>3. </a:t>
            </a:r>
            <a:r>
              <a:rPr lang="en-US" sz="2400" b="0" i="0" u="none" strike="noStrike" cap="none">
                <a:solidFill>
                  <a:srgbClr val="000000"/>
                </a:solidFill>
                <a:latin typeface="Times New Roman"/>
                <a:ea typeface="Times New Roman"/>
                <a:cs typeface="Times New Roman"/>
                <a:sym typeface="Times New Roman"/>
              </a:rPr>
              <a:t>Weekly report </a:t>
            </a:r>
            <a:endParaRPr sz="2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228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4. Workflow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28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 Snapshots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28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6. Conclusion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28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7. Scope for future work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spd="med">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3"/>
          <p:cNvSpPr txBox="1">
            <a:spLocks noGrp="1"/>
          </p:cNvSpPr>
          <p:nvPr>
            <p:ph type="title"/>
          </p:nvPr>
        </p:nvSpPr>
        <p:spPr>
          <a:xfrm>
            <a:off x="583809" y="191068"/>
            <a:ext cx="8229600" cy="105087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600" b="1" dirty="0">
                <a:latin typeface="Times New Roman"/>
                <a:ea typeface="Times New Roman"/>
                <a:cs typeface="Times New Roman"/>
                <a:sym typeface="Times New Roman"/>
              </a:rPr>
              <a:t>1.INTRODUCTION</a:t>
            </a:r>
            <a:endParaRPr sz="3600" b="1" dirty="0">
              <a:latin typeface="Times New Roman"/>
              <a:ea typeface="Times New Roman"/>
              <a:cs typeface="Times New Roman"/>
              <a:sym typeface="Times New Roman"/>
            </a:endParaRPr>
          </a:p>
        </p:txBody>
      </p:sp>
      <p:sp>
        <p:nvSpPr>
          <p:cNvPr id="88" name="Google Shape;88;p3"/>
          <p:cNvSpPr txBox="1">
            <a:spLocks noGrp="1"/>
          </p:cNvSpPr>
          <p:nvPr>
            <p:ph type="body" idx="1"/>
          </p:nvPr>
        </p:nvSpPr>
        <p:spPr>
          <a:xfrm>
            <a:off x="330591" y="1055076"/>
            <a:ext cx="8405445" cy="5821211"/>
          </a:xfrm>
          <a:prstGeom prst="rect">
            <a:avLst/>
          </a:prstGeom>
          <a:noFill/>
          <a:ln>
            <a:noFill/>
          </a:ln>
        </p:spPr>
        <p:txBody>
          <a:bodyPr spcFirstLastPara="1" wrap="square" lIns="91425" tIns="45700" rIns="91425" bIns="45700" anchor="t" anchorCtr="0">
            <a:noAutofit/>
          </a:bodyPr>
          <a:lstStyle/>
          <a:p>
            <a:pPr lvl="0" algn="just" rtl="0">
              <a:lnSpc>
                <a:spcPct val="150000"/>
              </a:lnSpc>
              <a:spcBef>
                <a:spcPts val="360"/>
              </a:spcBef>
              <a:spcAft>
                <a:spcPts val="0"/>
              </a:spcAft>
              <a:buSzPts val="1800"/>
              <a:buFont typeface="Wingdings" panose="05000000000000000000" pitchFamily="2" charset="2"/>
              <a:buChar char="v"/>
            </a:pPr>
            <a:r>
              <a:rPr lang="en-US" sz="2800" dirty="0">
                <a:latin typeface="Times New Roman" panose="02020603050405020304" pitchFamily="18" charset="0"/>
                <a:ea typeface="Times New Roman"/>
                <a:cs typeface="Times New Roman" panose="02020603050405020304" pitchFamily="18" charset="0"/>
                <a:sym typeface="Times New Roman"/>
              </a:rPr>
              <a:t>The internship training was under the domain of Machine Learning. The project was to develop a Multiple Disease Prediction System.</a:t>
            </a:r>
            <a:endParaRPr lang="en-US" sz="2800" dirty="0">
              <a:latin typeface="Times New Roman" panose="02020603050405020304" pitchFamily="18" charset="0"/>
              <a:cs typeface="Times New Roman" panose="02020603050405020304" pitchFamily="18" charset="0"/>
            </a:endParaRPr>
          </a:p>
          <a:p>
            <a:pPr lvl="0" algn="just" rtl="0">
              <a:lnSpc>
                <a:spcPct val="150000"/>
              </a:lnSpc>
              <a:spcBef>
                <a:spcPts val="360"/>
              </a:spcBef>
              <a:spcAft>
                <a:spcPts val="0"/>
              </a:spcAft>
              <a:buSzPts val="1800"/>
              <a:buFont typeface="Wingdings" panose="05000000000000000000" pitchFamily="2" charset="2"/>
              <a:buChar char="v"/>
            </a:pPr>
            <a:r>
              <a:rPr lang="en-US" sz="2800" dirty="0">
                <a:latin typeface="Times New Roman" panose="02020603050405020304" pitchFamily="18" charset="0"/>
                <a:ea typeface="Times New Roman"/>
                <a:cs typeface="Times New Roman" panose="02020603050405020304" pitchFamily="18" charset="0"/>
                <a:sym typeface="Times New Roman"/>
              </a:rPr>
              <a:t>Machine learning (ML) is defined as a discipline of artificial intelligence (AI) that provides machines the ability to automatically learn from data and past experiences to identify patterns and make predictions with minimal human intervention.</a:t>
            </a:r>
          </a:p>
          <a:p>
            <a:pPr marL="114300" lvl="0" indent="0" algn="just" rtl="0">
              <a:lnSpc>
                <a:spcPct val="150000"/>
              </a:lnSpc>
              <a:spcBef>
                <a:spcPts val="360"/>
              </a:spcBef>
              <a:spcAft>
                <a:spcPts val="0"/>
              </a:spcAft>
              <a:buSzPts val="1800"/>
              <a:buNone/>
            </a:pPr>
            <a:endParaRPr lang="en-US" sz="2800" dirty="0">
              <a:latin typeface="Times New Roman" panose="02020603050405020304" pitchFamily="18" charset="0"/>
              <a:ea typeface="Times New Roman"/>
              <a:cs typeface="Times New Roman" panose="02020603050405020304" pitchFamily="18" charset="0"/>
              <a:sym typeface="Times New Roman"/>
            </a:endParaRPr>
          </a:p>
        </p:txBody>
      </p:sp>
      <p:sp>
        <p:nvSpPr>
          <p:cNvPr id="89" name="Google Shape;89;p3"/>
          <p:cNvSpPr txBox="1"/>
          <p:nvPr/>
        </p:nvSpPr>
        <p:spPr>
          <a:xfrm>
            <a:off x="8229600" y="6513342"/>
            <a:ext cx="50913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Tree>
  </p:cSld>
  <p:clrMapOvr>
    <a:masterClrMapping/>
  </p:clrMapOvr>
  <p:transition spd="med">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E8924-A793-BA27-36CC-52126D72FB1E}"/>
              </a:ext>
            </a:extLst>
          </p:cNvPr>
          <p:cNvSpPr>
            <a:spLocks noGrp="1"/>
          </p:cNvSpPr>
          <p:nvPr>
            <p:ph type="title"/>
          </p:nvPr>
        </p:nvSpPr>
        <p:spPr>
          <a:xfrm>
            <a:off x="457200" y="-213632"/>
            <a:ext cx="8229600" cy="1099457"/>
          </a:xfrm>
        </p:spPr>
        <p:txBody>
          <a:bodyPr/>
          <a:lstStyle/>
          <a:p>
            <a:r>
              <a:rPr lang="en-US" sz="3600" b="1" dirty="0">
                <a:latin typeface="Times New Roman"/>
                <a:ea typeface="Times New Roman"/>
                <a:cs typeface="Times New Roman"/>
                <a:sym typeface="Times New Roman"/>
              </a:rPr>
              <a:t>1.INTRODUCTION</a:t>
            </a:r>
            <a:endParaRPr lang="en-IN" sz="3600" dirty="0"/>
          </a:p>
        </p:txBody>
      </p:sp>
      <p:sp>
        <p:nvSpPr>
          <p:cNvPr id="3" name="Text Placeholder 2">
            <a:extLst>
              <a:ext uri="{FF2B5EF4-FFF2-40B4-BE49-F238E27FC236}">
                <a16:creationId xmlns:a16="http://schemas.microsoft.com/office/drawing/2014/main" id="{D486D852-DE36-0F91-5B3E-5F4AB87AC290}"/>
              </a:ext>
            </a:extLst>
          </p:cNvPr>
          <p:cNvSpPr>
            <a:spLocks noGrp="1"/>
          </p:cNvSpPr>
          <p:nvPr>
            <p:ph type="body" idx="1"/>
          </p:nvPr>
        </p:nvSpPr>
        <p:spPr>
          <a:xfrm>
            <a:off x="200025" y="642938"/>
            <a:ext cx="8772525" cy="6457950"/>
          </a:xfrm>
        </p:spPr>
        <p:txBody>
          <a:bodyPr/>
          <a:lstStyle/>
          <a:p>
            <a:pPr algn="just">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 Multiple Disease Prediction System (MDPS) is an advanced healthcare solution designed to predict the likelihood of various diseases in individuals by analyzing a wide array of health data. </a:t>
            </a:r>
          </a:p>
          <a:p>
            <a:pPr algn="just">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Leveraging machine learning algorithms and big data analytics, these systems aim to enhance early detection, improve diagnostic accuracy, and personalize treatment plans, ultimately contributing to better health outcomes and efficient healthcare management.</a:t>
            </a:r>
          </a:p>
          <a:p>
            <a:pPr marL="114300" indent="0" algn="just">
              <a:lnSpc>
                <a:spcPct val="150000"/>
              </a:lnSpc>
              <a:buNone/>
            </a:pPr>
            <a:endParaRPr lang="en-US" sz="2800" dirty="0">
              <a:latin typeface="Times New Roman" panose="02020603050405020304" pitchFamily="18" charset="0"/>
              <a:cs typeface="Times New Roman" panose="02020603050405020304" pitchFamily="18" charset="0"/>
            </a:endParaRPr>
          </a:p>
          <a:p>
            <a:pPr marL="114300" indent="0" algn="just">
              <a:lnSpc>
                <a:spcPct val="150000"/>
              </a:lnSpc>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2607520"/>
      </p:ext>
    </p:extLst>
  </p:cSld>
  <p:clrMapOvr>
    <a:masterClrMapping/>
  </p:clrMapOvr>
  <p:transition spd="med">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4"/>
          <p:cNvSpPr txBox="1">
            <a:spLocks noGrp="1"/>
          </p:cNvSpPr>
          <p:nvPr>
            <p:ph type="title"/>
          </p:nvPr>
        </p:nvSpPr>
        <p:spPr>
          <a:xfrm>
            <a:off x="457200" y="245660"/>
            <a:ext cx="8229600" cy="87345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600" b="1" dirty="0">
                <a:latin typeface="Times New Roman"/>
                <a:ea typeface="Times New Roman"/>
                <a:cs typeface="Times New Roman"/>
                <a:sym typeface="Times New Roman"/>
              </a:rPr>
              <a:t>2.ABOUT COMPANY</a:t>
            </a:r>
            <a:endParaRPr sz="3600" b="1" dirty="0">
              <a:latin typeface="Times New Roman"/>
              <a:ea typeface="Times New Roman"/>
              <a:cs typeface="Times New Roman"/>
              <a:sym typeface="Times New Roman"/>
            </a:endParaRPr>
          </a:p>
        </p:txBody>
      </p:sp>
      <p:sp>
        <p:nvSpPr>
          <p:cNvPr id="95" name="Google Shape;95;p4"/>
          <p:cNvSpPr txBox="1">
            <a:spLocks noGrp="1"/>
          </p:cNvSpPr>
          <p:nvPr>
            <p:ph type="body" idx="1"/>
          </p:nvPr>
        </p:nvSpPr>
        <p:spPr>
          <a:xfrm>
            <a:off x="0" y="996696"/>
            <a:ext cx="8686800" cy="5129604"/>
          </a:xfrm>
          <a:prstGeom prst="rect">
            <a:avLst/>
          </a:prstGeom>
          <a:noFill/>
          <a:ln>
            <a:noFill/>
          </a:ln>
        </p:spPr>
        <p:txBody>
          <a:bodyPr spcFirstLastPara="1" wrap="square" lIns="91425" tIns="45700" rIns="91425" bIns="45700" anchor="t" anchorCtr="0">
            <a:noAutofit/>
          </a:bodyPr>
          <a:lstStyle/>
          <a:p>
            <a:pPr lvl="0" algn="just">
              <a:lnSpc>
                <a:spcPct val="150000"/>
              </a:lnSpc>
              <a:buNone/>
            </a:pPr>
            <a:r>
              <a:rPr lang="en-US" sz="2800" dirty="0">
                <a:latin typeface="Times New Roman"/>
                <a:ea typeface="Times New Roman"/>
                <a:cs typeface="Times New Roman"/>
                <a:sym typeface="Times New Roman"/>
              </a:rPr>
              <a:t>    </a:t>
            </a:r>
            <a:r>
              <a:rPr lang="en-US" sz="2800" dirty="0" err="1">
                <a:latin typeface="Times New Roman"/>
                <a:ea typeface="Times New Roman"/>
                <a:cs typeface="Times New Roman"/>
                <a:sym typeface="Times New Roman"/>
              </a:rPr>
              <a:t>TechCiti</a:t>
            </a:r>
            <a:r>
              <a:rPr lang="en-US" sz="2800" dirty="0">
                <a:latin typeface="Times New Roman"/>
                <a:ea typeface="Times New Roman"/>
                <a:cs typeface="Times New Roman"/>
                <a:sym typeface="Times New Roman"/>
              </a:rPr>
              <a:t> is a software company. Since established in 2013, </a:t>
            </a:r>
            <a:r>
              <a:rPr lang="en-US" sz="2800" dirty="0" err="1">
                <a:latin typeface="Times New Roman"/>
                <a:ea typeface="Times New Roman"/>
                <a:cs typeface="Times New Roman"/>
                <a:sym typeface="Times New Roman"/>
              </a:rPr>
              <a:t>TechCiti</a:t>
            </a:r>
            <a:r>
              <a:rPr lang="en-US" sz="2800" dirty="0">
                <a:latin typeface="Times New Roman"/>
                <a:ea typeface="Times New Roman"/>
                <a:cs typeface="Times New Roman"/>
                <a:sym typeface="Times New Roman"/>
              </a:rPr>
              <a:t> has become a pioneer in providing distinguished end-to-end IT infrastructure solutions to its customers through their business functions maximizing customer engagement with personalized services. They have successfully established in their business functions across 12 + major cities across PAN India with over 56 + satisfied corporate customers.</a:t>
            </a:r>
            <a:endParaRPr sz="2800" dirty="0">
              <a:latin typeface="Times New Roman"/>
              <a:ea typeface="Times New Roman"/>
              <a:cs typeface="Times New Roman"/>
              <a:sym typeface="Times New Roman"/>
            </a:endParaRPr>
          </a:p>
        </p:txBody>
      </p:sp>
      <p:sp>
        <p:nvSpPr>
          <p:cNvPr id="96" name="Google Shape;96;p4"/>
          <p:cNvSpPr txBox="1"/>
          <p:nvPr/>
        </p:nvSpPr>
        <p:spPr>
          <a:xfrm>
            <a:off x="8032652" y="6541477"/>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Tree>
  </p:cSld>
  <p:clrMapOvr>
    <a:masterClrMapping/>
  </p:clrMapOvr>
  <p:transition spd="med">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6"/>
          <p:cNvSpPr txBox="1">
            <a:spLocks noGrp="1"/>
          </p:cNvSpPr>
          <p:nvPr>
            <p:ph type="title"/>
          </p:nvPr>
        </p:nvSpPr>
        <p:spPr>
          <a:xfrm>
            <a:off x="457200" y="135355"/>
            <a:ext cx="8229600" cy="91972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600" b="1" dirty="0">
                <a:latin typeface="Times New Roman"/>
                <a:ea typeface="Times New Roman"/>
                <a:cs typeface="Times New Roman"/>
                <a:sym typeface="Times New Roman"/>
              </a:rPr>
              <a:t>3.WEEKLY REPORT</a:t>
            </a:r>
            <a:endParaRPr sz="3600" b="1" dirty="0">
              <a:latin typeface="Times New Roman"/>
              <a:ea typeface="Times New Roman"/>
              <a:cs typeface="Times New Roman"/>
              <a:sym typeface="Times New Roman"/>
            </a:endParaRPr>
          </a:p>
        </p:txBody>
      </p:sp>
      <p:graphicFrame>
        <p:nvGraphicFramePr>
          <p:cNvPr id="108" name="Google Shape;108;p6"/>
          <p:cNvGraphicFramePr/>
          <p:nvPr>
            <p:extLst>
              <p:ext uri="{D42A27DB-BD31-4B8C-83A1-F6EECF244321}">
                <p14:modId xmlns:p14="http://schemas.microsoft.com/office/powerpoint/2010/main" val="846831222"/>
              </p:ext>
            </p:extLst>
          </p:nvPr>
        </p:nvGraphicFramePr>
        <p:xfrm>
          <a:off x="1054100" y="2176272"/>
          <a:ext cx="7259906" cy="3729227"/>
        </p:xfrm>
        <a:graphic>
          <a:graphicData uri="http://schemas.openxmlformats.org/drawingml/2006/table">
            <a:tbl>
              <a:tblPr firstRow="1" firstCol="1" bandRow="1">
                <a:noFill/>
                <a:tableStyleId>{EF4BD524-B28D-46AB-9D58-1E6222F5F8D4}</a:tableStyleId>
              </a:tblPr>
              <a:tblGrid>
                <a:gridCol w="1147268">
                  <a:extLst>
                    <a:ext uri="{9D8B030D-6E8A-4147-A177-3AD203B41FA5}">
                      <a16:colId xmlns:a16="http://schemas.microsoft.com/office/drawing/2014/main" val="20000"/>
                    </a:ext>
                  </a:extLst>
                </a:gridCol>
                <a:gridCol w="3629489">
                  <a:extLst>
                    <a:ext uri="{9D8B030D-6E8A-4147-A177-3AD203B41FA5}">
                      <a16:colId xmlns:a16="http://schemas.microsoft.com/office/drawing/2014/main" val="20001"/>
                    </a:ext>
                  </a:extLst>
                </a:gridCol>
                <a:gridCol w="2483149">
                  <a:extLst>
                    <a:ext uri="{9D8B030D-6E8A-4147-A177-3AD203B41FA5}">
                      <a16:colId xmlns:a16="http://schemas.microsoft.com/office/drawing/2014/main" val="20002"/>
                    </a:ext>
                  </a:extLst>
                </a:gridCol>
              </a:tblGrid>
              <a:tr h="888472">
                <a:tc>
                  <a:txBody>
                    <a:bodyPr/>
                    <a:lstStyle/>
                    <a:p>
                      <a:pPr marL="0" marR="0" lvl="0" indent="0" algn="ctr" rtl="0">
                        <a:lnSpc>
                          <a:spcPct val="115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Weeks</a:t>
                      </a:r>
                      <a:endParaRPr sz="1100" u="none" strike="noStrike" cap="none">
                        <a:latin typeface="Times New Roman" panose="02020603050405020304" pitchFamily="18" charset="0"/>
                        <a:ea typeface="Calibri"/>
                        <a:cs typeface="Times New Roman" panose="02020603050405020304" pitchFamily="18" charset="0"/>
                        <a:sym typeface="Calibri"/>
                      </a:endParaRPr>
                    </a:p>
                  </a:txBody>
                  <a:tcPr marL="68575" marR="68575" marT="0" marB="0">
                    <a:solidFill>
                      <a:schemeClr val="dk1"/>
                    </a:solidFill>
                  </a:tcPr>
                </a:tc>
                <a:tc>
                  <a:txBody>
                    <a:bodyPr/>
                    <a:lstStyle/>
                    <a:p>
                      <a:pPr marL="0" marR="0" lvl="0" indent="0" algn="ctr" rtl="0">
                        <a:lnSpc>
                          <a:spcPct val="115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Task/Work Completed</a:t>
                      </a:r>
                      <a:endParaRPr sz="1100" u="none" strike="noStrike" cap="none">
                        <a:latin typeface="Times New Roman" panose="02020603050405020304" pitchFamily="18" charset="0"/>
                        <a:ea typeface="Calibri"/>
                        <a:cs typeface="Times New Roman" panose="02020603050405020304" pitchFamily="18" charset="0"/>
                        <a:sym typeface="Calibri"/>
                      </a:endParaRPr>
                    </a:p>
                  </a:txBody>
                  <a:tcPr marL="68575" marR="68575" marT="0" marB="0">
                    <a:solidFill>
                      <a:schemeClr val="dk1"/>
                    </a:solidFill>
                  </a:tcPr>
                </a:tc>
                <a:tc>
                  <a:txBody>
                    <a:bodyPr/>
                    <a:lstStyle/>
                    <a:p>
                      <a:pPr marL="0" marR="0" lvl="0" indent="0" algn="ctr" rtl="0">
                        <a:lnSpc>
                          <a:spcPct val="115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Remark and signature of  manager</a:t>
                      </a:r>
                      <a:endParaRPr sz="1100" u="none" strike="noStrike" cap="none">
                        <a:latin typeface="Times New Roman" panose="02020603050405020304" pitchFamily="18" charset="0"/>
                        <a:ea typeface="Calibri"/>
                        <a:cs typeface="Times New Roman" panose="02020603050405020304" pitchFamily="18" charset="0"/>
                        <a:sym typeface="Calibri"/>
                      </a:endParaRPr>
                    </a:p>
                  </a:txBody>
                  <a:tcPr marL="68575" marR="68575" marT="0" marB="0">
                    <a:solidFill>
                      <a:schemeClr val="dk1"/>
                    </a:solidFill>
                  </a:tcPr>
                </a:tc>
                <a:extLst>
                  <a:ext uri="{0D108BD9-81ED-4DB2-BD59-A6C34878D82A}">
                    <a16:rowId xmlns:a16="http://schemas.microsoft.com/office/drawing/2014/main" val="10000"/>
                  </a:ext>
                </a:extLst>
              </a:tr>
              <a:tr h="744247">
                <a:tc>
                  <a:txBody>
                    <a:bodyPr/>
                    <a:lstStyle/>
                    <a:p>
                      <a:pPr marL="0" marR="0" lvl="0" indent="0" algn="ctr" rtl="0">
                        <a:lnSpc>
                          <a:spcPct val="115000"/>
                        </a:lnSpc>
                        <a:spcBef>
                          <a:spcPts val="0"/>
                        </a:spcBef>
                        <a:spcAft>
                          <a:spcPts val="0"/>
                        </a:spcAft>
                        <a:buNone/>
                      </a:pPr>
                      <a:r>
                        <a:rPr lang="en-IN" sz="1200" u="none" strike="noStrike" cap="none" dirty="0">
                          <a:latin typeface="Times New Roman" pitchFamily="18" charset="0"/>
                          <a:ea typeface="Calibri"/>
                          <a:cs typeface="Times New Roman" pitchFamily="18" charset="0"/>
                          <a:sym typeface="Calibri"/>
                        </a:rPr>
                        <a:t>Week</a:t>
                      </a:r>
                      <a:r>
                        <a:rPr lang="en-IN" sz="1200" u="none" strike="noStrike" cap="none" baseline="0" dirty="0">
                          <a:latin typeface="Times New Roman" pitchFamily="18" charset="0"/>
                          <a:ea typeface="Calibri"/>
                          <a:cs typeface="Times New Roman" pitchFamily="18" charset="0"/>
                          <a:sym typeface="Calibri"/>
                        </a:rPr>
                        <a:t> 1</a:t>
                      </a:r>
                      <a:endParaRPr sz="1200" u="none" strike="noStrike" cap="none">
                        <a:latin typeface="Times New Roman" pitchFamily="18" charset="0"/>
                        <a:ea typeface="Calibri"/>
                        <a:cs typeface="Times New Roman" pitchFamily="18" charset="0"/>
                        <a:sym typeface="Calibri"/>
                      </a:endParaRPr>
                    </a:p>
                  </a:txBody>
                  <a:tcPr marL="68575" marR="68575" marT="0" marB="0">
                    <a:solidFill>
                      <a:schemeClr val="dk1"/>
                    </a:solidFill>
                  </a:tcPr>
                </a:tc>
                <a:tc>
                  <a:txBody>
                    <a:bodyPr/>
                    <a:lstStyle/>
                    <a:p>
                      <a:pPr marL="0" marR="0" lvl="0" indent="0" algn="l" rtl="0">
                        <a:lnSpc>
                          <a:spcPct val="115000"/>
                        </a:lnSpc>
                        <a:spcBef>
                          <a:spcPts val="0"/>
                        </a:spcBef>
                        <a:spcAft>
                          <a:spcPts val="0"/>
                        </a:spcAft>
                        <a:buNone/>
                      </a:pPr>
                      <a:r>
                        <a:rPr lang="en-US" sz="1400" u="none" strike="noStrike" cap="none" dirty="0">
                          <a:latin typeface="Times New Roman" panose="02020603050405020304" pitchFamily="18" charset="0"/>
                          <a:ea typeface="Calibri"/>
                          <a:cs typeface="Times New Roman" panose="02020603050405020304" pitchFamily="18" charset="0"/>
                          <a:sym typeface="Calibri"/>
                        </a:rPr>
                        <a:t>Introduction to company culture, Training on Frontend design, Introduction to HTML, CSS and Bootstrap.</a:t>
                      </a:r>
                    </a:p>
                  </a:txBody>
                  <a:tcPr marL="68575" marR="68575" marT="0" marB="0"/>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1400" u="none" strike="noStrike" cap="none" dirty="0">
                          <a:latin typeface="Times New Roman" panose="02020603050405020304" pitchFamily="18" charset="0"/>
                          <a:ea typeface="Calibri"/>
                          <a:cs typeface="Times New Roman" panose="02020603050405020304" pitchFamily="18" charset="0"/>
                          <a:sym typeface="Calibri"/>
                        </a:rPr>
                        <a:t>Frontend Development</a:t>
                      </a:r>
                    </a:p>
                    <a:p>
                      <a:pPr marL="0" marR="0" lvl="0" indent="0" algn="ctr" rtl="0">
                        <a:lnSpc>
                          <a:spcPct val="115000"/>
                        </a:lnSpc>
                        <a:spcBef>
                          <a:spcPts val="0"/>
                        </a:spcBef>
                        <a:spcAft>
                          <a:spcPts val="0"/>
                        </a:spcAft>
                        <a:buNone/>
                      </a:pPr>
                      <a:endParaRPr sz="1400" u="none" strike="noStrike" cap="none" dirty="0">
                        <a:latin typeface="Times New Roman" pitchFamily="18" charset="0"/>
                        <a:ea typeface="Calibri"/>
                        <a:cs typeface="Times New Roman" pitchFamily="18" charset="0"/>
                        <a:sym typeface="Calibri"/>
                      </a:endParaRPr>
                    </a:p>
                  </a:txBody>
                  <a:tcPr marL="68575" marR="68575" marT="0" marB="0"/>
                </a:tc>
                <a:extLst>
                  <a:ext uri="{0D108BD9-81ED-4DB2-BD59-A6C34878D82A}">
                    <a16:rowId xmlns:a16="http://schemas.microsoft.com/office/drawing/2014/main" val="10001"/>
                  </a:ext>
                </a:extLst>
              </a:tr>
              <a:tr h="598476">
                <a:tc>
                  <a:txBody>
                    <a:bodyPr/>
                    <a:lstStyle/>
                    <a:p>
                      <a:pPr marL="0" marR="0" lvl="0" indent="0" algn="ctr" rtl="0">
                        <a:lnSpc>
                          <a:spcPct val="115000"/>
                        </a:lnSpc>
                        <a:spcBef>
                          <a:spcPts val="0"/>
                        </a:spcBef>
                        <a:spcAft>
                          <a:spcPts val="0"/>
                        </a:spcAft>
                        <a:buNone/>
                      </a:pPr>
                      <a:r>
                        <a:rPr lang="en-US" sz="1200" u="none" strike="noStrike" cap="none" dirty="0">
                          <a:latin typeface="Times New Roman" pitchFamily="18" charset="0"/>
                          <a:cs typeface="Times New Roman" pitchFamily="18" charset="0"/>
                        </a:rPr>
                        <a:t>Week 2</a:t>
                      </a:r>
                      <a:endParaRPr sz="1200" u="none" strike="noStrike" cap="none">
                        <a:latin typeface="Times New Roman" pitchFamily="18" charset="0"/>
                        <a:ea typeface="Calibri"/>
                        <a:cs typeface="Times New Roman" pitchFamily="18" charset="0"/>
                        <a:sym typeface="Calibri"/>
                      </a:endParaRPr>
                    </a:p>
                  </a:txBody>
                  <a:tcPr marL="68575" marR="68575" marT="0" marB="0">
                    <a:solidFill>
                      <a:schemeClr val="dk1"/>
                    </a:solidFill>
                  </a:tcPr>
                </a:tc>
                <a:tc>
                  <a:txBody>
                    <a:bodyPr/>
                    <a:lstStyle/>
                    <a:p>
                      <a:pPr marL="0" marR="0" lvl="0" indent="0" algn="l" rtl="0">
                        <a:lnSpc>
                          <a:spcPct val="115000"/>
                        </a:lnSpc>
                        <a:spcBef>
                          <a:spcPts val="0"/>
                        </a:spcBef>
                        <a:spcAft>
                          <a:spcPts val="0"/>
                        </a:spcAft>
                        <a:buNone/>
                      </a:pPr>
                      <a:r>
                        <a:rPr lang="en-US" sz="1400" u="none" strike="noStrike" cap="none" dirty="0">
                          <a:latin typeface="Times New Roman" panose="02020603050405020304" pitchFamily="18" charset="0"/>
                          <a:ea typeface="Calibri"/>
                          <a:cs typeface="Times New Roman" panose="02020603050405020304" pitchFamily="18" charset="0"/>
                          <a:sym typeface="Calibri"/>
                        </a:rPr>
                        <a:t>Introduction   to  Python  basics  and python libraries required for machine learning</a:t>
                      </a:r>
                      <a:endParaRPr sz="1400" u="none" strike="noStrike" cap="none" dirty="0">
                        <a:latin typeface="Times New Roman" pitchFamily="18" charset="0"/>
                        <a:ea typeface="Calibri"/>
                        <a:cs typeface="Times New Roman" pitchFamily="18" charset="0"/>
                        <a:sym typeface="Calibri"/>
                      </a:endParaRPr>
                    </a:p>
                  </a:txBody>
                  <a:tcPr marL="68575" marR="68575" marT="0" marB="0"/>
                </a:tc>
                <a:tc>
                  <a:txBody>
                    <a:bodyPr/>
                    <a:lstStyle/>
                    <a:p>
                      <a:pPr marL="0" marR="0" lvl="0" indent="0" algn="ctr" rtl="0">
                        <a:lnSpc>
                          <a:spcPct val="115000"/>
                        </a:lnSpc>
                        <a:spcBef>
                          <a:spcPts val="0"/>
                        </a:spcBef>
                        <a:spcAft>
                          <a:spcPts val="0"/>
                        </a:spcAft>
                        <a:buNone/>
                      </a:pPr>
                      <a:r>
                        <a:rPr lang="en-US" sz="1400" u="none" strike="noStrike" cap="none" dirty="0">
                          <a:latin typeface="Times New Roman" panose="02020603050405020304" pitchFamily="18" charset="0"/>
                          <a:ea typeface="Calibri"/>
                          <a:cs typeface="Times New Roman" panose="02020603050405020304" pitchFamily="18" charset="0"/>
                          <a:sym typeface="Calibri"/>
                        </a:rPr>
                        <a:t>Python Programming</a:t>
                      </a:r>
                    </a:p>
                  </a:txBody>
                  <a:tcPr marL="68575" marR="68575" marT="0" marB="0"/>
                </a:tc>
                <a:extLst>
                  <a:ext uri="{0D108BD9-81ED-4DB2-BD59-A6C34878D82A}">
                    <a16:rowId xmlns:a16="http://schemas.microsoft.com/office/drawing/2014/main" val="10002"/>
                  </a:ext>
                </a:extLst>
              </a:tr>
              <a:tr h="609560">
                <a:tc>
                  <a:txBody>
                    <a:bodyPr/>
                    <a:lstStyle/>
                    <a:p>
                      <a:pPr marL="0" marR="0" lvl="0" indent="0" algn="ctr" rtl="0">
                        <a:lnSpc>
                          <a:spcPct val="115000"/>
                        </a:lnSpc>
                        <a:spcBef>
                          <a:spcPts val="0"/>
                        </a:spcBef>
                        <a:spcAft>
                          <a:spcPts val="0"/>
                        </a:spcAft>
                        <a:buNone/>
                      </a:pPr>
                      <a:r>
                        <a:rPr lang="en-US" sz="1200" u="none" strike="noStrike" cap="none" dirty="0">
                          <a:latin typeface="Times New Roman" pitchFamily="18" charset="0"/>
                          <a:cs typeface="Times New Roman" pitchFamily="18" charset="0"/>
                        </a:rPr>
                        <a:t>Week 3</a:t>
                      </a:r>
                      <a:endParaRPr sz="1200" u="none" strike="noStrike" cap="none">
                        <a:latin typeface="Times New Roman" pitchFamily="18" charset="0"/>
                        <a:ea typeface="Calibri"/>
                        <a:cs typeface="Times New Roman" pitchFamily="18" charset="0"/>
                        <a:sym typeface="Calibri"/>
                      </a:endParaRPr>
                    </a:p>
                  </a:txBody>
                  <a:tcPr marL="68575" marR="68575" marT="0" marB="0">
                    <a:solidFill>
                      <a:schemeClr val="dk1"/>
                    </a:solidFill>
                  </a:tcPr>
                </a:tc>
                <a:tc>
                  <a:txBody>
                    <a:bodyPr/>
                    <a:lstStyle/>
                    <a:p>
                      <a:pPr marL="0" marR="0" lvl="0" indent="0" algn="l" rtl="0">
                        <a:lnSpc>
                          <a:spcPct val="115000"/>
                        </a:lnSpc>
                        <a:spcBef>
                          <a:spcPts val="0"/>
                        </a:spcBef>
                        <a:spcAft>
                          <a:spcPts val="0"/>
                        </a:spcAft>
                        <a:buNone/>
                      </a:pPr>
                      <a:r>
                        <a:rPr lang="en-US" sz="1400" u="none" strike="noStrike" cap="none" dirty="0">
                          <a:latin typeface="Times New Roman" panose="02020603050405020304" pitchFamily="18" charset="0"/>
                          <a:ea typeface="Calibri"/>
                          <a:cs typeface="Times New Roman" panose="02020603050405020304" pitchFamily="18" charset="0"/>
                          <a:sym typeface="Calibri"/>
                        </a:rPr>
                        <a:t>Introduction to Flask  and </a:t>
                      </a:r>
                      <a:r>
                        <a:rPr lang="en-US" sz="1400" u="none" strike="noStrike" cap="none" dirty="0" err="1">
                          <a:latin typeface="Times New Roman" panose="02020603050405020304" pitchFamily="18" charset="0"/>
                          <a:ea typeface="Calibri"/>
                          <a:cs typeface="Times New Roman" panose="02020603050405020304" pitchFamily="18" charset="0"/>
                          <a:sym typeface="Calibri"/>
                        </a:rPr>
                        <a:t>Streamlit</a:t>
                      </a:r>
                      <a:r>
                        <a:rPr lang="en-US" sz="1400" u="none" strike="noStrike" cap="none" dirty="0">
                          <a:latin typeface="Times New Roman" panose="02020603050405020304" pitchFamily="18" charset="0"/>
                          <a:ea typeface="Calibri"/>
                          <a:cs typeface="Times New Roman" panose="02020603050405020304" pitchFamily="18" charset="0"/>
                          <a:sym typeface="Calibri"/>
                        </a:rPr>
                        <a:t> framework and completion of website for proposed project.</a:t>
                      </a:r>
                    </a:p>
                  </a:txBody>
                  <a:tcPr marL="68575" marR="68575" marT="0" marB="0"/>
                </a:tc>
                <a:tc>
                  <a:txBody>
                    <a:bodyPr/>
                    <a:lstStyle/>
                    <a:p>
                      <a:pPr marL="0" marR="0" lvl="0" indent="0" algn="ctr" rtl="0">
                        <a:lnSpc>
                          <a:spcPct val="115000"/>
                        </a:lnSpc>
                        <a:spcBef>
                          <a:spcPts val="0"/>
                        </a:spcBef>
                        <a:spcAft>
                          <a:spcPts val="0"/>
                        </a:spcAft>
                        <a:buNone/>
                      </a:pPr>
                      <a:r>
                        <a:rPr lang="en-US" sz="1400" u="none" strike="noStrike" cap="none" dirty="0" err="1">
                          <a:latin typeface="Times New Roman" pitchFamily="18" charset="0"/>
                          <a:ea typeface="Calibri"/>
                          <a:cs typeface="Times New Roman" pitchFamily="18" charset="0"/>
                          <a:sym typeface="Calibri"/>
                        </a:rPr>
                        <a:t>Streamlit</a:t>
                      </a:r>
                      <a:r>
                        <a:rPr lang="en-US" sz="1400" u="none" strike="noStrike" cap="none" dirty="0">
                          <a:latin typeface="Times New Roman" pitchFamily="18" charset="0"/>
                          <a:ea typeface="Calibri"/>
                          <a:cs typeface="Times New Roman" pitchFamily="18" charset="0"/>
                          <a:sym typeface="Calibri"/>
                        </a:rPr>
                        <a:t> Development</a:t>
                      </a:r>
                      <a:endParaRPr sz="1400" u="none" strike="noStrike" cap="none" dirty="0">
                        <a:latin typeface="Times New Roman" pitchFamily="18" charset="0"/>
                        <a:ea typeface="Calibri"/>
                        <a:cs typeface="Times New Roman" pitchFamily="18" charset="0"/>
                        <a:sym typeface="Calibri"/>
                      </a:endParaRPr>
                    </a:p>
                  </a:txBody>
                  <a:tcPr marL="68575" marR="68575" marT="0" marB="0"/>
                </a:tc>
                <a:extLst>
                  <a:ext uri="{0D108BD9-81ED-4DB2-BD59-A6C34878D82A}">
                    <a16:rowId xmlns:a16="http://schemas.microsoft.com/office/drawing/2014/main" val="10003"/>
                  </a:ext>
                </a:extLst>
              </a:tr>
              <a:tr h="888472">
                <a:tc>
                  <a:txBody>
                    <a:bodyPr/>
                    <a:lstStyle/>
                    <a:p>
                      <a:pPr marL="0" marR="0" lvl="0" indent="0" algn="ctr" rtl="0">
                        <a:lnSpc>
                          <a:spcPct val="115000"/>
                        </a:lnSpc>
                        <a:spcBef>
                          <a:spcPts val="0"/>
                        </a:spcBef>
                        <a:spcAft>
                          <a:spcPts val="0"/>
                        </a:spcAft>
                        <a:buNone/>
                      </a:pPr>
                      <a:r>
                        <a:rPr lang="en-US" sz="1200" u="none" strike="noStrike" cap="none" dirty="0">
                          <a:latin typeface="Times New Roman" pitchFamily="18" charset="0"/>
                          <a:cs typeface="Times New Roman" pitchFamily="18" charset="0"/>
                        </a:rPr>
                        <a:t>Week 4</a:t>
                      </a:r>
                      <a:endParaRPr sz="1200" u="none" strike="noStrike" cap="none">
                        <a:latin typeface="Times New Roman" pitchFamily="18" charset="0"/>
                        <a:ea typeface="Calibri"/>
                        <a:cs typeface="Times New Roman" pitchFamily="18" charset="0"/>
                        <a:sym typeface="Calibri"/>
                      </a:endParaRPr>
                    </a:p>
                  </a:txBody>
                  <a:tcPr marL="68575" marR="68575" marT="0" marB="0">
                    <a:solidFill>
                      <a:schemeClr val="dk1"/>
                    </a:solidFill>
                  </a:tcPr>
                </a:tc>
                <a:tc>
                  <a:txBody>
                    <a:bodyPr/>
                    <a:lstStyle/>
                    <a:p>
                      <a:pPr marL="0" marR="0" lvl="0" indent="0" algn="l" rtl="0">
                        <a:lnSpc>
                          <a:spcPct val="115000"/>
                        </a:lnSpc>
                        <a:spcBef>
                          <a:spcPts val="0"/>
                        </a:spcBef>
                        <a:spcAft>
                          <a:spcPts val="0"/>
                        </a:spcAft>
                        <a:buNone/>
                      </a:pPr>
                      <a:r>
                        <a:rPr lang="en-US" sz="1400" u="none" strike="noStrike" cap="none" dirty="0">
                          <a:latin typeface="Times New Roman" panose="02020603050405020304" pitchFamily="18" charset="0"/>
                          <a:ea typeface="Calibri"/>
                          <a:cs typeface="Times New Roman" panose="02020603050405020304" pitchFamily="18" charset="0"/>
                          <a:sym typeface="Calibri"/>
                        </a:rPr>
                        <a:t>Introduction and training on Machine Learning algorithms, Successful implementation of multiple disease prediction system</a:t>
                      </a:r>
                    </a:p>
                  </a:txBody>
                  <a:tcPr marL="68575" marR="68575" marT="0" marB="0"/>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1400" u="none" strike="noStrike" cap="none" dirty="0">
                          <a:latin typeface="Times New Roman" panose="02020603050405020304" pitchFamily="18" charset="0"/>
                          <a:ea typeface="Calibri"/>
                          <a:cs typeface="Times New Roman" panose="02020603050405020304" pitchFamily="18" charset="0"/>
                          <a:sym typeface="Calibri"/>
                        </a:rPr>
                        <a:t>Machine Learning </a:t>
                      </a:r>
                    </a:p>
                    <a:p>
                      <a:pPr marL="0" marR="0" lvl="0" indent="0" algn="ctr" rtl="0">
                        <a:lnSpc>
                          <a:spcPct val="115000"/>
                        </a:lnSpc>
                        <a:spcBef>
                          <a:spcPts val="0"/>
                        </a:spcBef>
                        <a:spcAft>
                          <a:spcPts val="0"/>
                        </a:spcAft>
                        <a:buNone/>
                      </a:pPr>
                      <a:endParaRPr sz="1400" u="none" strike="noStrike" cap="none" dirty="0">
                        <a:latin typeface="Times New Roman" pitchFamily="18" charset="0"/>
                        <a:ea typeface="Calibri"/>
                        <a:cs typeface="Times New Roman" pitchFamily="18" charset="0"/>
                        <a:sym typeface="Calibri"/>
                      </a:endParaRPr>
                    </a:p>
                  </a:txBody>
                  <a:tcPr marL="68575" marR="68575" marT="0" marB="0"/>
                </a:tc>
                <a:extLst>
                  <a:ext uri="{0D108BD9-81ED-4DB2-BD59-A6C34878D82A}">
                    <a16:rowId xmlns:a16="http://schemas.microsoft.com/office/drawing/2014/main" val="10004"/>
                  </a:ext>
                </a:extLst>
              </a:tr>
            </a:tbl>
          </a:graphicData>
        </a:graphic>
      </p:graphicFrame>
      <p:sp>
        <p:nvSpPr>
          <p:cNvPr id="109" name="Google Shape;109;p6"/>
          <p:cNvSpPr txBox="1"/>
          <p:nvPr/>
        </p:nvSpPr>
        <p:spPr>
          <a:xfrm>
            <a:off x="8314006" y="6414868"/>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10" name="Google Shape;110;p6"/>
          <p:cNvSpPr txBox="1"/>
          <p:nvPr/>
        </p:nvSpPr>
        <p:spPr>
          <a:xfrm>
            <a:off x="2658794" y="6020972"/>
            <a:ext cx="495182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Table 3.1:Weekly Work Done Table</a:t>
            </a:r>
            <a:endParaRPr sz="2000" b="1" i="0" u="none" strike="noStrike" cap="none" dirty="0">
              <a:solidFill>
                <a:srgbClr val="000000"/>
              </a:solidFill>
              <a:latin typeface="Times New Roman"/>
              <a:ea typeface="Times New Roman"/>
              <a:cs typeface="Times New Roman"/>
              <a:sym typeface="Times New Roman"/>
            </a:endParaRPr>
          </a:p>
        </p:txBody>
      </p:sp>
      <p:sp>
        <p:nvSpPr>
          <p:cNvPr id="111" name="Google Shape;111;p6"/>
          <p:cNvSpPr txBox="1"/>
          <p:nvPr/>
        </p:nvSpPr>
        <p:spPr>
          <a:xfrm>
            <a:off x="492369" y="1069145"/>
            <a:ext cx="8243668"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dirty="0">
                <a:solidFill>
                  <a:srgbClr val="000000"/>
                </a:solidFill>
                <a:latin typeface="Times New Roman"/>
                <a:ea typeface="Times New Roman"/>
                <a:cs typeface="Times New Roman"/>
                <a:sym typeface="Times New Roman"/>
              </a:rPr>
              <a:t>The internship was carried out for 4 weeks starting from </a:t>
            </a:r>
            <a:r>
              <a:rPr lang="en-US" sz="2800" dirty="0">
                <a:latin typeface="Times New Roman"/>
                <a:ea typeface="Times New Roman"/>
                <a:cs typeface="Times New Roman"/>
                <a:sym typeface="Times New Roman"/>
              </a:rPr>
              <a:t>14</a:t>
            </a:r>
            <a:r>
              <a:rPr lang="en-US" sz="2800" baseline="30000" dirty="0">
                <a:latin typeface="Times New Roman"/>
                <a:ea typeface="Times New Roman"/>
                <a:cs typeface="Times New Roman"/>
                <a:sym typeface="Times New Roman"/>
              </a:rPr>
              <a:t>th</a:t>
            </a:r>
            <a:r>
              <a:rPr lang="en-US" sz="2800" b="0" i="0" u="none" strike="noStrike" cap="none" dirty="0">
                <a:solidFill>
                  <a:srgbClr val="000000"/>
                </a:solidFill>
                <a:latin typeface="Times New Roman"/>
                <a:ea typeface="Times New Roman"/>
                <a:cs typeface="Times New Roman"/>
                <a:sym typeface="Times New Roman"/>
              </a:rPr>
              <a:t> August to </a:t>
            </a:r>
            <a:r>
              <a:rPr lang="en-US" sz="2800" dirty="0">
                <a:latin typeface="Times New Roman"/>
                <a:ea typeface="Times New Roman"/>
                <a:cs typeface="Times New Roman"/>
                <a:sym typeface="Times New Roman"/>
              </a:rPr>
              <a:t>9</a:t>
            </a:r>
            <a:r>
              <a:rPr lang="en-US" sz="2800" b="0" i="0" u="none" strike="noStrike" cap="none" baseline="30000" dirty="0">
                <a:solidFill>
                  <a:srgbClr val="000000"/>
                </a:solidFill>
                <a:latin typeface="Times New Roman"/>
                <a:ea typeface="Times New Roman"/>
                <a:cs typeface="Times New Roman"/>
                <a:sym typeface="Times New Roman"/>
              </a:rPr>
              <a:t>th</a:t>
            </a:r>
            <a:r>
              <a:rPr lang="en-US" sz="2800" b="0" i="0" u="none" strike="noStrike" cap="none" dirty="0">
                <a:solidFill>
                  <a:srgbClr val="000000"/>
                </a:solidFill>
                <a:latin typeface="Times New Roman"/>
                <a:ea typeface="Times New Roman"/>
                <a:cs typeface="Times New Roman"/>
                <a:sym typeface="Times New Roman"/>
              </a:rPr>
              <a:t> September,2023.  </a:t>
            </a:r>
            <a:endParaRPr sz="2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transition spd="med">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0"/>
          <p:cNvSpPr txBox="1">
            <a:spLocks noGrp="1"/>
          </p:cNvSpPr>
          <p:nvPr>
            <p:ph type="title"/>
          </p:nvPr>
        </p:nvSpPr>
        <p:spPr>
          <a:xfrm>
            <a:off x="457200" y="1"/>
            <a:ext cx="8229600" cy="97067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4000" b="1" dirty="0">
                <a:latin typeface="Times New Roman"/>
                <a:ea typeface="Times New Roman"/>
                <a:cs typeface="Times New Roman"/>
                <a:sym typeface="Times New Roman"/>
              </a:rPr>
              <a:t>4.WORKFLOW</a:t>
            </a:r>
            <a:endParaRPr sz="4000" b="1" dirty="0">
              <a:latin typeface="Times New Roman"/>
              <a:ea typeface="Times New Roman"/>
              <a:cs typeface="Times New Roman"/>
              <a:sym typeface="Times New Roman"/>
            </a:endParaRPr>
          </a:p>
        </p:txBody>
      </p:sp>
      <p:sp>
        <p:nvSpPr>
          <p:cNvPr id="139" name="Google Shape;139;p10"/>
          <p:cNvSpPr txBox="1">
            <a:spLocks noGrp="1"/>
          </p:cNvSpPr>
          <p:nvPr>
            <p:ph type="body" idx="1"/>
          </p:nvPr>
        </p:nvSpPr>
        <p:spPr>
          <a:xfrm>
            <a:off x="127000" y="731521"/>
            <a:ext cx="8928100" cy="6126479"/>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4.1</a:t>
            </a:r>
            <a:r>
              <a:rPr lang="en-US" sz="3600" b="1" dirty="0">
                <a:latin typeface="Times New Roman"/>
                <a:ea typeface="Times New Roman"/>
                <a:cs typeface="Times New Roman"/>
                <a:sym typeface="Times New Roman"/>
              </a:rPr>
              <a:t> </a:t>
            </a:r>
            <a:r>
              <a:rPr lang="en-US" sz="2800" b="1" dirty="0">
                <a:latin typeface="Times New Roman"/>
                <a:ea typeface="Times New Roman"/>
                <a:cs typeface="Times New Roman"/>
                <a:sym typeface="Times New Roman"/>
              </a:rPr>
              <a:t>Methodology Used</a:t>
            </a:r>
            <a:endParaRPr lang="en-US" sz="2800" dirty="0"/>
          </a:p>
          <a:p>
            <a:pPr marL="457200" lvl="0" indent="-342900" algn="l" rtl="0">
              <a:lnSpc>
                <a:spcPct val="150000"/>
              </a:lnSpc>
              <a:spcBef>
                <a:spcPts val="360"/>
              </a:spcBef>
              <a:spcAft>
                <a:spcPts val="0"/>
              </a:spcAft>
              <a:buSzPts val="1800"/>
              <a:buChar char="•"/>
            </a:pPr>
            <a:r>
              <a:rPr lang="en-US" sz="2800" dirty="0">
                <a:latin typeface="Times New Roman"/>
                <a:ea typeface="Times New Roman"/>
                <a:cs typeface="Times New Roman"/>
                <a:sym typeface="Times New Roman"/>
              </a:rPr>
              <a:t>Step 1: The user should register with valid credentials to login to the website.</a:t>
            </a:r>
            <a:endParaRPr lang="en-US" sz="2800" dirty="0"/>
          </a:p>
          <a:p>
            <a:pPr marL="457200" lvl="0" indent="-342900" algn="l" rtl="0">
              <a:lnSpc>
                <a:spcPct val="150000"/>
              </a:lnSpc>
              <a:spcBef>
                <a:spcPts val="360"/>
              </a:spcBef>
              <a:spcAft>
                <a:spcPts val="0"/>
              </a:spcAft>
              <a:buSzPts val="1800"/>
              <a:buChar char="•"/>
            </a:pPr>
            <a:r>
              <a:rPr lang="en-US" sz="2800" dirty="0">
                <a:latin typeface="Times New Roman"/>
                <a:ea typeface="Times New Roman"/>
                <a:cs typeface="Times New Roman"/>
                <a:sym typeface="Times New Roman"/>
              </a:rPr>
              <a:t>Step 2: The user should login to a website .</a:t>
            </a:r>
            <a:endParaRPr lang="en-US" sz="2800" dirty="0"/>
          </a:p>
          <a:p>
            <a:pPr marL="457200" lvl="0" indent="-342900" algn="l" rtl="0">
              <a:lnSpc>
                <a:spcPct val="150000"/>
              </a:lnSpc>
              <a:spcBef>
                <a:spcPts val="360"/>
              </a:spcBef>
              <a:spcAft>
                <a:spcPts val="0"/>
              </a:spcAft>
              <a:buSzPts val="1800"/>
              <a:buChar char="•"/>
            </a:pPr>
            <a:r>
              <a:rPr lang="en-US" sz="2800" dirty="0">
                <a:latin typeface="Times New Roman"/>
                <a:ea typeface="Times New Roman"/>
                <a:cs typeface="Times New Roman"/>
                <a:sym typeface="Times New Roman"/>
              </a:rPr>
              <a:t>Step 3: After login user can enter details about their health.</a:t>
            </a:r>
            <a:endParaRPr lang="en-US" sz="2800" dirty="0"/>
          </a:p>
          <a:p>
            <a:pPr marL="457200" lvl="0" indent="-342900" algn="l" rtl="0">
              <a:lnSpc>
                <a:spcPct val="150000"/>
              </a:lnSpc>
              <a:spcBef>
                <a:spcPts val="360"/>
              </a:spcBef>
              <a:spcAft>
                <a:spcPts val="0"/>
              </a:spcAft>
              <a:buSzPts val="1800"/>
              <a:buChar char="•"/>
            </a:pPr>
            <a:r>
              <a:rPr lang="en-US" sz="2800" dirty="0">
                <a:latin typeface="Times New Roman"/>
                <a:ea typeface="Times New Roman"/>
                <a:cs typeface="Times New Roman"/>
                <a:sym typeface="Times New Roman"/>
              </a:rPr>
              <a:t>Step 4: User can see the results that weather the he/she is prone to any of </a:t>
            </a:r>
            <a:r>
              <a:rPr lang="en-US" sz="2800">
                <a:latin typeface="Times New Roman"/>
                <a:ea typeface="Times New Roman"/>
                <a:cs typeface="Times New Roman"/>
                <a:sym typeface="Times New Roman"/>
              </a:rPr>
              <a:t>the disease</a:t>
            </a:r>
            <a:endParaRPr lang="en-US" sz="2800" b="1" dirty="0">
              <a:latin typeface="Times New Roman"/>
              <a:ea typeface="Times New Roman"/>
              <a:cs typeface="Times New Roman"/>
              <a:sym typeface="Times New Roman"/>
            </a:endParaRPr>
          </a:p>
          <a:p>
            <a:pPr marL="457200" lvl="0" indent="-342900" algn="l" rtl="0">
              <a:lnSpc>
                <a:spcPct val="100000"/>
              </a:lnSpc>
              <a:spcBef>
                <a:spcPts val="360"/>
              </a:spcBef>
              <a:spcAft>
                <a:spcPts val="0"/>
              </a:spcAft>
              <a:buSzPts val="1800"/>
              <a:buNone/>
            </a:pPr>
            <a:endParaRPr lang="en-US" sz="3600" b="1" dirty="0">
              <a:latin typeface="Times New Roman"/>
              <a:ea typeface="Times New Roman"/>
              <a:cs typeface="Times New Roman"/>
              <a:sym typeface="Times New Roman"/>
            </a:endParaRPr>
          </a:p>
          <a:p>
            <a:pPr marL="628650" lvl="0" indent="-514350" algn="l" rtl="0">
              <a:lnSpc>
                <a:spcPct val="100000"/>
              </a:lnSpc>
              <a:spcBef>
                <a:spcPts val="360"/>
              </a:spcBef>
              <a:spcAft>
                <a:spcPts val="0"/>
              </a:spcAft>
              <a:buSzPts val="1800"/>
              <a:buFont typeface="+mj-lt"/>
              <a:buAutoNum type="arabicPeriod"/>
            </a:pPr>
            <a:endParaRPr sz="2800" b="1" dirty="0">
              <a:latin typeface="Times New Roman" panose="02020603050405020304" pitchFamily="18" charset="0"/>
              <a:ea typeface="Times New Roman"/>
              <a:cs typeface="Times New Roman" panose="02020603050405020304" pitchFamily="18" charset="0"/>
              <a:sym typeface="Times New Roman"/>
            </a:endParaRPr>
          </a:p>
        </p:txBody>
      </p:sp>
      <p:sp>
        <p:nvSpPr>
          <p:cNvPr id="140" name="Google Shape;140;p10"/>
          <p:cNvSpPr txBox="1"/>
          <p:nvPr/>
        </p:nvSpPr>
        <p:spPr>
          <a:xfrm>
            <a:off x="7638757" y="6414868"/>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Tree>
  </p:cSld>
  <p:clrMapOvr>
    <a:masterClrMapping/>
  </p:clrMapOvr>
  <p:transition spd="med">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1"/>
          <p:cNvSpPr txBox="1">
            <a:spLocks noGrp="1"/>
          </p:cNvSpPr>
          <p:nvPr>
            <p:ph type="body" idx="1"/>
          </p:nvPr>
        </p:nvSpPr>
        <p:spPr>
          <a:xfrm>
            <a:off x="457200" y="1052186"/>
            <a:ext cx="8229600" cy="5074114"/>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None/>
            </a:pPr>
            <a:r>
              <a:rPr lang="en-US" sz="2800" dirty="0">
                <a:latin typeface="Times New Roman"/>
                <a:ea typeface="Times New Roman"/>
                <a:cs typeface="Times New Roman"/>
                <a:sym typeface="Times New Roman"/>
              </a:rPr>
              <a:t>  </a:t>
            </a:r>
          </a:p>
          <a:p>
            <a:pPr marL="457200" lvl="0" indent="-342900" algn="l" rtl="0">
              <a:lnSpc>
                <a:spcPct val="100000"/>
              </a:lnSpc>
              <a:spcBef>
                <a:spcPts val="360"/>
              </a:spcBef>
              <a:spcAft>
                <a:spcPts val="0"/>
              </a:spcAft>
              <a:buSzPts val="1800"/>
              <a:buNone/>
            </a:pPr>
            <a:endParaRPr sz="2800" dirty="0">
              <a:latin typeface="Times New Roman"/>
              <a:ea typeface="Times New Roman"/>
              <a:cs typeface="Times New Roman"/>
              <a:sym typeface="Times New Roman"/>
            </a:endParaRPr>
          </a:p>
        </p:txBody>
      </p:sp>
      <p:sp>
        <p:nvSpPr>
          <p:cNvPr id="147" name="Google Shape;147;p11"/>
          <p:cNvSpPr txBox="1"/>
          <p:nvPr/>
        </p:nvSpPr>
        <p:spPr>
          <a:xfrm>
            <a:off x="8356209" y="6400800"/>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9</a:t>
            </a:r>
            <a:endParaRPr sz="1400" b="0" i="0" u="none" strike="noStrike" cap="none">
              <a:solidFill>
                <a:srgbClr val="000000"/>
              </a:solidFill>
              <a:latin typeface="Arial"/>
              <a:ea typeface="Arial"/>
              <a:cs typeface="Arial"/>
              <a:sym typeface="Arial"/>
            </a:endParaRPr>
          </a:p>
        </p:txBody>
      </p:sp>
      <p:sp>
        <p:nvSpPr>
          <p:cNvPr id="148" name="Google Shape;148;p11"/>
          <p:cNvSpPr txBox="1"/>
          <p:nvPr/>
        </p:nvSpPr>
        <p:spPr>
          <a:xfrm>
            <a:off x="3057545" y="6135527"/>
            <a:ext cx="3727939"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Fig.4.2 System Architecture</a:t>
            </a:r>
            <a:endParaRPr sz="2000" b="1"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4A8D4BD2-4515-F4CF-3F4F-D13075E5FCC1}"/>
              </a:ext>
            </a:extLst>
          </p:cNvPr>
          <p:cNvSpPr txBox="1"/>
          <p:nvPr/>
        </p:nvSpPr>
        <p:spPr>
          <a:xfrm>
            <a:off x="1900237" y="-26611"/>
            <a:ext cx="5857875" cy="861774"/>
          </a:xfrm>
          <a:prstGeom prst="rect">
            <a:avLst/>
          </a:prstGeom>
          <a:noFill/>
        </p:spPr>
        <p:txBody>
          <a:bodyPr wrap="square" rtlCol="0">
            <a:spAutoFit/>
          </a:bodyPr>
          <a:lstStyle/>
          <a:p>
            <a:r>
              <a:rPr lang="en-US" sz="3600" b="1" dirty="0">
                <a:latin typeface="Times New Roman"/>
                <a:ea typeface="Times New Roman"/>
                <a:cs typeface="Times New Roman"/>
                <a:sym typeface="Times New Roman"/>
              </a:rPr>
              <a:t>4.2 System Architecture</a:t>
            </a:r>
          </a:p>
          <a:p>
            <a:endParaRPr lang="en-IN" dirty="0"/>
          </a:p>
        </p:txBody>
      </p:sp>
      <p:pic>
        <p:nvPicPr>
          <p:cNvPr id="3" name="Picture 2">
            <a:extLst>
              <a:ext uri="{FF2B5EF4-FFF2-40B4-BE49-F238E27FC236}">
                <a16:creationId xmlns:a16="http://schemas.microsoft.com/office/drawing/2014/main" id="{527AD33B-9655-1BE3-B754-F235184A8DA6}"/>
              </a:ext>
            </a:extLst>
          </p:cNvPr>
          <p:cNvPicPr>
            <a:picLocks noChangeAspect="1"/>
          </p:cNvPicPr>
          <p:nvPr/>
        </p:nvPicPr>
        <p:blipFill>
          <a:blip r:embed="rId3"/>
          <a:stretch>
            <a:fillRect/>
          </a:stretch>
        </p:blipFill>
        <p:spPr>
          <a:xfrm>
            <a:off x="942975" y="731700"/>
            <a:ext cx="6915150" cy="5502412"/>
          </a:xfrm>
          <a:prstGeom prst="rect">
            <a:avLst/>
          </a:prstGeom>
        </p:spPr>
      </p:pic>
    </p:spTree>
  </p:cSld>
  <p:clrMapOvr>
    <a:masterClrMapping/>
  </p:clrMapOvr>
  <p:transition spd="med">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2"/>
          <p:cNvSpPr txBox="1">
            <a:spLocks noGrp="1"/>
          </p:cNvSpPr>
          <p:nvPr>
            <p:ph type="title"/>
          </p:nvPr>
        </p:nvSpPr>
        <p:spPr>
          <a:xfrm>
            <a:off x="457200" y="-256101"/>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600" b="1" dirty="0">
                <a:latin typeface="Times New Roman"/>
                <a:ea typeface="Times New Roman"/>
                <a:cs typeface="Times New Roman"/>
                <a:sym typeface="Times New Roman"/>
              </a:rPr>
              <a:t>5.SNAPSHOTS</a:t>
            </a:r>
            <a:endParaRPr sz="3600" b="1" dirty="0">
              <a:latin typeface="Times New Roman"/>
              <a:ea typeface="Times New Roman"/>
              <a:cs typeface="Times New Roman"/>
              <a:sym typeface="Times New Roman"/>
            </a:endParaRPr>
          </a:p>
        </p:txBody>
      </p:sp>
      <p:sp>
        <p:nvSpPr>
          <p:cNvPr id="154" name="Google Shape;154;p12"/>
          <p:cNvSpPr txBox="1">
            <a:spLocks noGrp="1"/>
          </p:cNvSpPr>
          <p:nvPr>
            <p:ph type="body" idx="1"/>
          </p:nvPr>
        </p:nvSpPr>
        <p:spPr>
          <a:xfrm>
            <a:off x="262057" y="736687"/>
            <a:ext cx="8229600" cy="5831213"/>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None/>
            </a:pPr>
            <a:r>
              <a:rPr lang="en-US" sz="2800" b="1" dirty="0">
                <a:latin typeface="Times New Roman"/>
                <a:ea typeface="Times New Roman"/>
                <a:cs typeface="Times New Roman"/>
                <a:sym typeface="Times New Roman"/>
              </a:rPr>
              <a:t>Home Page</a:t>
            </a:r>
            <a:endParaRPr dirty="0"/>
          </a:p>
          <a:p>
            <a:pPr marL="457200" lvl="0" indent="-342900" algn="l" rtl="0">
              <a:lnSpc>
                <a:spcPct val="100000"/>
              </a:lnSpc>
              <a:spcBef>
                <a:spcPts val="360"/>
              </a:spcBef>
              <a:spcAft>
                <a:spcPts val="0"/>
              </a:spcAft>
              <a:buSzPts val="1800"/>
              <a:buNone/>
            </a:pPr>
            <a:r>
              <a:rPr lang="en-US" dirty="0"/>
              <a:t>      </a:t>
            </a:r>
            <a:endParaRPr dirty="0"/>
          </a:p>
          <a:p>
            <a:pPr marL="457200" lvl="0" indent="-228600" algn="l" rtl="0">
              <a:lnSpc>
                <a:spcPct val="100000"/>
              </a:lnSpc>
              <a:spcBef>
                <a:spcPts val="360"/>
              </a:spcBef>
              <a:spcAft>
                <a:spcPts val="0"/>
              </a:spcAft>
              <a:buClr>
                <a:schemeClr val="dk1"/>
              </a:buClr>
              <a:buSzPts val="1800"/>
              <a:buNone/>
            </a:pPr>
            <a:endParaRPr dirty="0"/>
          </a:p>
        </p:txBody>
      </p:sp>
      <p:sp>
        <p:nvSpPr>
          <p:cNvPr id="156" name="Google Shape;156;p12"/>
          <p:cNvSpPr txBox="1"/>
          <p:nvPr/>
        </p:nvSpPr>
        <p:spPr>
          <a:xfrm>
            <a:off x="8299938" y="6260123"/>
            <a:ext cx="3834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
        <p:nvSpPr>
          <p:cNvPr id="157" name="Google Shape;157;p12"/>
          <p:cNvSpPr txBox="1"/>
          <p:nvPr/>
        </p:nvSpPr>
        <p:spPr>
          <a:xfrm>
            <a:off x="3348111" y="6049108"/>
            <a:ext cx="3166989"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Figure 5.1 Home Page</a:t>
            </a:r>
            <a:endParaRPr sz="2000" b="1"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A6433B42-75D7-D1B2-460B-73701E506B04}"/>
              </a:ext>
            </a:extLst>
          </p:cNvPr>
          <p:cNvPicPr>
            <a:picLocks noChangeAspect="1"/>
          </p:cNvPicPr>
          <p:nvPr/>
        </p:nvPicPr>
        <p:blipFill rotWithShape="1">
          <a:blip r:embed="rId3"/>
          <a:srcRect l="4991" t="6354" r="4491" b="8773"/>
          <a:stretch/>
        </p:blipFill>
        <p:spPr>
          <a:xfrm>
            <a:off x="453774" y="1743075"/>
            <a:ext cx="8229601" cy="3571875"/>
          </a:xfrm>
          <a:prstGeom prst="rect">
            <a:avLst/>
          </a:prstGeom>
        </p:spPr>
      </p:pic>
    </p:spTree>
  </p:cSld>
  <p:clrMapOvr>
    <a:masterClrMapping/>
  </p:clrMapOvr>
  <p:transition spd="med">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B44B-04B4-BC18-CF53-85AE286133E6}"/>
              </a:ext>
            </a:extLst>
          </p:cNvPr>
          <p:cNvSpPr>
            <a:spLocks noGrp="1"/>
          </p:cNvSpPr>
          <p:nvPr>
            <p:ph type="title"/>
          </p:nvPr>
        </p:nvSpPr>
        <p:spPr>
          <a:xfrm>
            <a:off x="457200" y="-285750"/>
            <a:ext cx="8229600" cy="1143000"/>
          </a:xfrm>
        </p:spPr>
        <p:txBody>
          <a:bodyPr/>
          <a:lstStyle/>
          <a:p>
            <a:r>
              <a:rPr lang="en-US" sz="3600" b="1" dirty="0">
                <a:latin typeface="Times New Roman"/>
                <a:ea typeface="Times New Roman"/>
                <a:cs typeface="Times New Roman"/>
                <a:sym typeface="Times New Roman"/>
              </a:rPr>
              <a:t>5.SNAPSHOTS</a:t>
            </a:r>
            <a:endParaRPr lang="en-IN" sz="3600" dirty="0"/>
          </a:p>
        </p:txBody>
      </p:sp>
      <p:sp>
        <p:nvSpPr>
          <p:cNvPr id="3" name="Text Placeholder 2">
            <a:extLst>
              <a:ext uri="{FF2B5EF4-FFF2-40B4-BE49-F238E27FC236}">
                <a16:creationId xmlns:a16="http://schemas.microsoft.com/office/drawing/2014/main" id="{4C6D5A7C-CD8E-126E-0F93-73DF475FE6D8}"/>
              </a:ext>
            </a:extLst>
          </p:cNvPr>
          <p:cNvSpPr>
            <a:spLocks noGrp="1"/>
          </p:cNvSpPr>
          <p:nvPr>
            <p:ph type="body" idx="1"/>
          </p:nvPr>
        </p:nvSpPr>
        <p:spPr>
          <a:xfrm>
            <a:off x="457200" y="708818"/>
            <a:ext cx="8229600" cy="6149182"/>
          </a:xfrm>
        </p:spPr>
        <p:txBody>
          <a:bodyPr/>
          <a:lstStyle/>
          <a:p>
            <a:pPr marL="114300" indent="0">
              <a:buNone/>
            </a:pPr>
            <a:r>
              <a:rPr lang="en-US" sz="2800" b="1" dirty="0">
                <a:latin typeface="Times New Roman"/>
                <a:ea typeface="Times New Roman"/>
                <a:cs typeface="Times New Roman"/>
                <a:sym typeface="Times New Roman"/>
              </a:rPr>
              <a:t>Registration Page</a:t>
            </a:r>
            <a:endParaRPr lang="en-US" sz="2800" dirty="0"/>
          </a:p>
          <a:p>
            <a:endParaRPr lang="en-IN" dirty="0"/>
          </a:p>
          <a:p>
            <a:endParaRPr lang="en-IN" dirty="0"/>
          </a:p>
          <a:p>
            <a:endParaRPr lang="en-IN" dirty="0"/>
          </a:p>
          <a:p>
            <a:endParaRPr lang="en-IN" dirty="0"/>
          </a:p>
          <a:p>
            <a:endParaRPr lang="en-IN" dirty="0"/>
          </a:p>
          <a:p>
            <a:endParaRPr lang="en-IN" dirty="0"/>
          </a:p>
          <a:p>
            <a:endParaRPr lang="en-IN" dirty="0"/>
          </a:p>
          <a:p>
            <a:pPr marL="114300" indent="0" algn="ctr">
              <a:buNone/>
            </a:pPr>
            <a:endParaRPr lang="en-US" sz="2400" b="1" i="0" u="none" strike="noStrike" cap="none" dirty="0">
              <a:solidFill>
                <a:srgbClr val="000000"/>
              </a:solidFill>
              <a:latin typeface="Times New Roman"/>
              <a:ea typeface="Times New Roman"/>
              <a:cs typeface="Times New Roman"/>
              <a:sym typeface="Times New Roman"/>
            </a:endParaRPr>
          </a:p>
          <a:p>
            <a:pPr marL="114300" indent="0" algn="ctr">
              <a:buNone/>
            </a:pPr>
            <a:endParaRPr lang="en-US" sz="2400" b="1" i="0" u="none" strike="noStrike" cap="none" dirty="0">
              <a:solidFill>
                <a:srgbClr val="000000"/>
              </a:solidFill>
              <a:latin typeface="Times New Roman"/>
              <a:ea typeface="Times New Roman"/>
              <a:cs typeface="Times New Roman"/>
              <a:sym typeface="Times New Roman"/>
            </a:endParaRPr>
          </a:p>
          <a:p>
            <a:pPr marL="114300" indent="0" algn="ctr">
              <a:buNone/>
            </a:pPr>
            <a:endParaRPr lang="en-US" sz="2400" b="1" dirty="0">
              <a:solidFill>
                <a:srgbClr val="000000"/>
              </a:solidFill>
              <a:latin typeface="Times New Roman"/>
              <a:ea typeface="Times New Roman"/>
              <a:cs typeface="Times New Roman"/>
              <a:sym typeface="Times New Roman"/>
            </a:endParaRPr>
          </a:p>
          <a:p>
            <a:pPr marL="114300" indent="0" algn="ctr">
              <a:buNone/>
            </a:pPr>
            <a:r>
              <a:rPr lang="en-US" sz="2000" b="1" i="0" u="none" strike="noStrike" cap="none" dirty="0">
                <a:solidFill>
                  <a:srgbClr val="000000"/>
                </a:solidFill>
                <a:latin typeface="Times New Roman"/>
                <a:ea typeface="Times New Roman"/>
                <a:cs typeface="Times New Roman"/>
                <a:sym typeface="Times New Roman"/>
              </a:rPr>
              <a:t>Figure 5.3 Registration Page</a:t>
            </a:r>
          </a:p>
          <a:p>
            <a:endParaRPr lang="en-IN" dirty="0"/>
          </a:p>
        </p:txBody>
      </p:sp>
      <p:pic>
        <p:nvPicPr>
          <p:cNvPr id="6" name="Picture 5">
            <a:extLst>
              <a:ext uri="{FF2B5EF4-FFF2-40B4-BE49-F238E27FC236}">
                <a16:creationId xmlns:a16="http://schemas.microsoft.com/office/drawing/2014/main" id="{36EEFFCB-6C03-E738-6300-D8AE4B457640}"/>
              </a:ext>
            </a:extLst>
          </p:cNvPr>
          <p:cNvPicPr>
            <a:picLocks noChangeAspect="1"/>
          </p:cNvPicPr>
          <p:nvPr/>
        </p:nvPicPr>
        <p:blipFill rotWithShape="1">
          <a:blip r:embed="rId2"/>
          <a:srcRect l="10781" t="24178" r="10000" b="7026"/>
          <a:stretch/>
        </p:blipFill>
        <p:spPr>
          <a:xfrm>
            <a:off x="985838" y="1851818"/>
            <a:ext cx="7243762" cy="3777457"/>
          </a:xfrm>
          <a:prstGeom prst="rect">
            <a:avLst/>
          </a:prstGeom>
        </p:spPr>
      </p:pic>
    </p:spTree>
    <p:extLst>
      <p:ext uri="{BB962C8B-B14F-4D97-AF65-F5344CB8AC3E}">
        <p14:creationId xmlns:p14="http://schemas.microsoft.com/office/powerpoint/2010/main" val="1771191522"/>
      </p:ext>
    </p:extLst>
  </p:cSld>
  <p:clrMapOvr>
    <a:masterClrMapping/>
  </p:clrMapOvr>
  <p:transition spd="med">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1282-7928-D1F4-D80B-FA4AD0CB0450}"/>
              </a:ext>
            </a:extLst>
          </p:cNvPr>
          <p:cNvSpPr>
            <a:spLocks noGrp="1"/>
          </p:cNvSpPr>
          <p:nvPr>
            <p:ph type="title"/>
          </p:nvPr>
        </p:nvSpPr>
        <p:spPr>
          <a:xfrm>
            <a:off x="457200" y="-234156"/>
            <a:ext cx="8229600" cy="1143000"/>
          </a:xfrm>
        </p:spPr>
        <p:txBody>
          <a:bodyPr/>
          <a:lstStyle/>
          <a:p>
            <a:r>
              <a:rPr lang="en-US" sz="3600" b="1" dirty="0">
                <a:latin typeface="Times New Roman"/>
                <a:ea typeface="Times New Roman"/>
                <a:cs typeface="Times New Roman"/>
                <a:sym typeface="Times New Roman"/>
              </a:rPr>
              <a:t>5.SNAPSHOTS</a:t>
            </a:r>
            <a:endParaRPr lang="en-IN" sz="3600" dirty="0"/>
          </a:p>
        </p:txBody>
      </p:sp>
      <p:sp>
        <p:nvSpPr>
          <p:cNvPr id="3" name="Text Placeholder 2">
            <a:extLst>
              <a:ext uri="{FF2B5EF4-FFF2-40B4-BE49-F238E27FC236}">
                <a16:creationId xmlns:a16="http://schemas.microsoft.com/office/drawing/2014/main" id="{2292E844-5065-EC21-AA03-0B79B6BFEE64}"/>
              </a:ext>
            </a:extLst>
          </p:cNvPr>
          <p:cNvSpPr>
            <a:spLocks noGrp="1"/>
          </p:cNvSpPr>
          <p:nvPr>
            <p:ph type="body" idx="1"/>
          </p:nvPr>
        </p:nvSpPr>
        <p:spPr>
          <a:xfrm>
            <a:off x="457200" y="708818"/>
            <a:ext cx="8229600" cy="5440363"/>
          </a:xfrm>
        </p:spPr>
        <p:txBody>
          <a:bodyPr/>
          <a:lstStyle/>
          <a:p>
            <a:pPr marL="114300" indent="0">
              <a:buNone/>
            </a:pPr>
            <a:r>
              <a:rPr lang="en-IN" sz="2800" b="1" dirty="0">
                <a:latin typeface="Times New Roman" panose="02020603050405020304" pitchFamily="18" charset="0"/>
                <a:cs typeface="Times New Roman" panose="02020603050405020304" pitchFamily="18" charset="0"/>
              </a:rPr>
              <a:t>Login Page</a:t>
            </a: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lgn="ctr">
              <a:buNone/>
            </a:pPr>
            <a:endParaRPr lang="en-US" sz="2400" b="1" i="0" u="none" strike="noStrike" cap="none" dirty="0">
              <a:solidFill>
                <a:srgbClr val="000000"/>
              </a:solidFill>
              <a:latin typeface="Times New Roman"/>
              <a:ea typeface="Times New Roman"/>
              <a:cs typeface="Times New Roman"/>
              <a:sym typeface="Times New Roman"/>
            </a:endParaRPr>
          </a:p>
          <a:p>
            <a:pPr marL="114300" indent="0" algn="ctr">
              <a:buNone/>
            </a:pPr>
            <a:r>
              <a:rPr lang="en-US" sz="2400" b="1" i="0" u="none" strike="noStrike" cap="none" dirty="0">
                <a:solidFill>
                  <a:srgbClr val="000000"/>
                </a:solidFill>
                <a:latin typeface="Times New Roman"/>
                <a:ea typeface="Times New Roman"/>
                <a:cs typeface="Times New Roman"/>
                <a:sym typeface="Times New Roman"/>
              </a:rPr>
              <a:t>Figure </a:t>
            </a:r>
            <a:r>
              <a:rPr lang="en-US" sz="2400" b="1" i="0" u="none" strike="noStrike" cap="none">
                <a:solidFill>
                  <a:srgbClr val="000000"/>
                </a:solidFill>
                <a:latin typeface="Times New Roman"/>
                <a:ea typeface="Times New Roman"/>
                <a:cs typeface="Times New Roman"/>
                <a:sym typeface="Times New Roman"/>
              </a:rPr>
              <a:t>5.2 Login </a:t>
            </a:r>
            <a:r>
              <a:rPr lang="en-US" sz="2400" b="1" i="0" u="none" strike="noStrike" cap="none" dirty="0">
                <a:solidFill>
                  <a:srgbClr val="000000"/>
                </a:solidFill>
                <a:latin typeface="Times New Roman"/>
                <a:ea typeface="Times New Roman"/>
                <a:cs typeface="Times New Roman"/>
                <a:sym typeface="Times New Roman"/>
              </a:rPr>
              <a:t>Page</a:t>
            </a: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4938A53-1CF0-FC6E-5379-1BD16B01DEA6}"/>
              </a:ext>
            </a:extLst>
          </p:cNvPr>
          <p:cNvPicPr>
            <a:picLocks noChangeAspect="1"/>
          </p:cNvPicPr>
          <p:nvPr/>
        </p:nvPicPr>
        <p:blipFill rotWithShape="1">
          <a:blip r:embed="rId2"/>
          <a:srcRect l="14062" t="18103" r="10001" b="12312"/>
          <a:stretch/>
        </p:blipFill>
        <p:spPr>
          <a:xfrm>
            <a:off x="1285874" y="1743075"/>
            <a:ext cx="6943725" cy="3543300"/>
          </a:xfrm>
          <a:prstGeom prst="rect">
            <a:avLst/>
          </a:prstGeom>
        </p:spPr>
      </p:pic>
    </p:spTree>
    <p:extLst>
      <p:ext uri="{BB962C8B-B14F-4D97-AF65-F5344CB8AC3E}">
        <p14:creationId xmlns:p14="http://schemas.microsoft.com/office/powerpoint/2010/main" val="3067888203"/>
      </p:ext>
    </p:extLst>
  </p:cSld>
  <p:clrMapOvr>
    <a:masterClrMapping/>
  </p:clrMapOvr>
  <p:transition spd="med">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1256-3192-DD07-EEF6-EE5562EA9EC9}"/>
              </a:ext>
            </a:extLst>
          </p:cNvPr>
          <p:cNvSpPr>
            <a:spLocks noGrp="1"/>
          </p:cNvSpPr>
          <p:nvPr>
            <p:ph type="title"/>
          </p:nvPr>
        </p:nvSpPr>
        <p:spPr>
          <a:xfrm>
            <a:off x="571500" y="-162720"/>
            <a:ext cx="8229600" cy="1143000"/>
          </a:xfrm>
        </p:spPr>
        <p:txBody>
          <a:bodyPr/>
          <a:lstStyle/>
          <a:p>
            <a:r>
              <a:rPr lang="en-US" sz="3600" b="1" dirty="0">
                <a:latin typeface="Times New Roman"/>
                <a:ea typeface="Times New Roman"/>
                <a:cs typeface="Times New Roman"/>
                <a:sym typeface="Times New Roman"/>
              </a:rPr>
              <a:t>5.SNAPSHOTS</a:t>
            </a:r>
            <a:endParaRPr lang="en-IN" sz="3600" dirty="0"/>
          </a:p>
        </p:txBody>
      </p:sp>
      <p:sp>
        <p:nvSpPr>
          <p:cNvPr id="3" name="Text Placeholder 2">
            <a:extLst>
              <a:ext uri="{FF2B5EF4-FFF2-40B4-BE49-F238E27FC236}">
                <a16:creationId xmlns:a16="http://schemas.microsoft.com/office/drawing/2014/main" id="{D824473B-8846-E909-2B70-9A94DF2011B0}"/>
              </a:ext>
            </a:extLst>
          </p:cNvPr>
          <p:cNvSpPr>
            <a:spLocks noGrp="1"/>
          </p:cNvSpPr>
          <p:nvPr>
            <p:ph type="body" idx="1"/>
          </p:nvPr>
        </p:nvSpPr>
        <p:spPr>
          <a:xfrm>
            <a:off x="457200" y="791368"/>
            <a:ext cx="8229600" cy="5895182"/>
          </a:xfrm>
        </p:spPr>
        <p:txBody>
          <a:bodyPr/>
          <a:lstStyle/>
          <a:p>
            <a:pPr marL="114300" indent="0">
              <a:buNone/>
            </a:pPr>
            <a:r>
              <a:rPr lang="en-IN" sz="2800" b="1" dirty="0">
                <a:latin typeface="Times New Roman" panose="02020603050405020304" pitchFamily="18" charset="0"/>
                <a:cs typeface="Times New Roman" panose="02020603050405020304" pitchFamily="18" charset="0"/>
              </a:rPr>
              <a:t>Diabetes Prediction Page</a:t>
            </a: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lgn="ctr">
              <a:buNone/>
            </a:pPr>
            <a:endParaRPr lang="en-US" sz="2400" b="1" i="0" u="none" strike="noStrike" cap="none" dirty="0">
              <a:solidFill>
                <a:srgbClr val="000000"/>
              </a:solidFill>
              <a:latin typeface="Times New Roman"/>
              <a:ea typeface="Times New Roman"/>
              <a:cs typeface="Times New Roman"/>
              <a:sym typeface="Times New Roman"/>
            </a:endParaRPr>
          </a:p>
          <a:p>
            <a:pPr marL="114300" indent="0" algn="ctr">
              <a:buNone/>
            </a:pPr>
            <a:r>
              <a:rPr lang="en-US" sz="2000" b="1" i="0" u="none" strike="noStrike" cap="none" dirty="0">
                <a:solidFill>
                  <a:srgbClr val="000000"/>
                </a:solidFill>
                <a:latin typeface="Times New Roman"/>
                <a:ea typeface="Times New Roman"/>
                <a:cs typeface="Times New Roman"/>
                <a:sym typeface="Times New Roman"/>
              </a:rPr>
              <a:t>Figure 5.4 </a:t>
            </a:r>
            <a:r>
              <a:rPr lang="en-IN" sz="2000" b="1" dirty="0">
                <a:latin typeface="Times New Roman" panose="02020603050405020304" pitchFamily="18" charset="0"/>
                <a:cs typeface="Times New Roman" panose="02020603050405020304" pitchFamily="18" charset="0"/>
              </a:rPr>
              <a:t>Diabetes Prediction Page</a:t>
            </a:r>
          </a:p>
          <a:p>
            <a:pPr marL="114300" indent="0" algn="ctr">
              <a:buNone/>
            </a:pPr>
            <a:endParaRPr lang="en-IN" sz="2400" b="1" dirty="0">
              <a:latin typeface="Times New Roman" panose="02020603050405020304" pitchFamily="18" charset="0"/>
              <a:cs typeface="Times New Roman" panose="02020603050405020304" pitchFamily="18" charset="0"/>
            </a:endParaRPr>
          </a:p>
          <a:p>
            <a:pPr marL="114300" indent="0" algn="ctr">
              <a:buNone/>
            </a:pPr>
            <a:endParaRPr lang="en-US" sz="2400" b="1" i="0" u="none" strike="noStrike" cap="none" dirty="0">
              <a:solidFill>
                <a:srgbClr val="000000"/>
              </a:solidFill>
              <a:latin typeface="Times New Roman"/>
              <a:ea typeface="Times New Roman"/>
              <a:cs typeface="Times New Roman"/>
              <a:sym typeface="Times New Roman"/>
            </a:endParaRPr>
          </a:p>
          <a:p>
            <a:pPr marL="114300" indent="0" algn="ctr">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5F2324E-FABF-B4A7-F59E-41279DBDD77A}"/>
              </a:ext>
            </a:extLst>
          </p:cNvPr>
          <p:cNvPicPr>
            <a:picLocks noChangeAspect="1"/>
          </p:cNvPicPr>
          <p:nvPr/>
        </p:nvPicPr>
        <p:blipFill rotWithShape="1">
          <a:blip r:embed="rId2"/>
          <a:srcRect t="14583" r="10000" b="12781"/>
          <a:stretch/>
        </p:blipFill>
        <p:spPr>
          <a:xfrm>
            <a:off x="457200" y="1614488"/>
            <a:ext cx="8229600" cy="3971925"/>
          </a:xfrm>
          <a:prstGeom prst="rect">
            <a:avLst/>
          </a:prstGeom>
        </p:spPr>
      </p:pic>
    </p:spTree>
    <p:extLst>
      <p:ext uri="{BB962C8B-B14F-4D97-AF65-F5344CB8AC3E}">
        <p14:creationId xmlns:p14="http://schemas.microsoft.com/office/powerpoint/2010/main" val="797740605"/>
      </p:ext>
    </p:extLst>
  </p:cSld>
  <p:clrMapOvr>
    <a:masterClrMapping/>
  </p:clrMapOvr>
  <p:transition spd="med">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BE04B-7C73-CD9F-E036-59097B6208C2}"/>
              </a:ext>
            </a:extLst>
          </p:cNvPr>
          <p:cNvSpPr>
            <a:spLocks noGrp="1"/>
          </p:cNvSpPr>
          <p:nvPr>
            <p:ph type="title"/>
          </p:nvPr>
        </p:nvSpPr>
        <p:spPr>
          <a:xfrm>
            <a:off x="600075" y="-259557"/>
            <a:ext cx="8229600" cy="1143000"/>
          </a:xfrm>
        </p:spPr>
        <p:txBody>
          <a:bodyPr/>
          <a:lstStyle/>
          <a:p>
            <a:r>
              <a:rPr lang="en-US" sz="3600" b="1" dirty="0">
                <a:latin typeface="Times New Roman"/>
                <a:ea typeface="Times New Roman"/>
                <a:cs typeface="Times New Roman"/>
                <a:sym typeface="Times New Roman"/>
              </a:rPr>
              <a:t>5.SNAPSHOTS</a:t>
            </a:r>
            <a:endParaRPr lang="en-IN" sz="3600" dirty="0"/>
          </a:p>
        </p:txBody>
      </p:sp>
      <p:sp>
        <p:nvSpPr>
          <p:cNvPr id="3" name="Text Placeholder 2">
            <a:extLst>
              <a:ext uri="{FF2B5EF4-FFF2-40B4-BE49-F238E27FC236}">
                <a16:creationId xmlns:a16="http://schemas.microsoft.com/office/drawing/2014/main" id="{7FC84AD0-7CA6-BDD5-93F9-5DAD3B49F549}"/>
              </a:ext>
            </a:extLst>
          </p:cNvPr>
          <p:cNvSpPr>
            <a:spLocks noGrp="1"/>
          </p:cNvSpPr>
          <p:nvPr>
            <p:ph type="body" idx="1"/>
          </p:nvPr>
        </p:nvSpPr>
        <p:spPr>
          <a:xfrm>
            <a:off x="457200" y="883443"/>
            <a:ext cx="8229600" cy="5845970"/>
          </a:xfrm>
        </p:spPr>
        <p:txBody>
          <a:bodyPr/>
          <a:lstStyle/>
          <a:p>
            <a:pPr marL="114300" indent="0">
              <a:buNone/>
            </a:pPr>
            <a:r>
              <a:rPr lang="en-IN" sz="2800" b="1" dirty="0">
                <a:latin typeface="Times New Roman" panose="02020603050405020304" pitchFamily="18" charset="0"/>
                <a:cs typeface="Times New Roman" panose="02020603050405020304" pitchFamily="18" charset="0"/>
              </a:rPr>
              <a:t>Heart Disease Prediction page</a:t>
            </a: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lgn="ctr">
              <a:buNone/>
            </a:pPr>
            <a:endParaRPr lang="en-US" sz="2400" b="1" i="0" u="none" strike="noStrike" cap="none" dirty="0">
              <a:solidFill>
                <a:srgbClr val="000000"/>
              </a:solidFill>
              <a:latin typeface="Times New Roman"/>
              <a:ea typeface="Times New Roman"/>
              <a:cs typeface="Times New Roman"/>
              <a:sym typeface="Times New Roman"/>
            </a:endParaRPr>
          </a:p>
          <a:p>
            <a:pPr marL="114300" indent="0" algn="ctr">
              <a:buNone/>
            </a:pPr>
            <a:r>
              <a:rPr lang="en-US" sz="2000" b="1" i="0" u="none" strike="noStrike" cap="none" dirty="0">
                <a:solidFill>
                  <a:srgbClr val="000000"/>
                </a:solidFill>
                <a:latin typeface="Times New Roman"/>
                <a:ea typeface="Times New Roman"/>
                <a:cs typeface="Times New Roman"/>
                <a:sym typeface="Times New Roman"/>
              </a:rPr>
              <a:t>Figure 5.5 </a:t>
            </a:r>
            <a:r>
              <a:rPr lang="en-IN" sz="2000" b="1" dirty="0">
                <a:latin typeface="Times New Roman" panose="02020603050405020304" pitchFamily="18" charset="0"/>
                <a:cs typeface="Times New Roman" panose="02020603050405020304" pitchFamily="18" charset="0"/>
              </a:rPr>
              <a:t>Heart Disease Prediction page</a:t>
            </a:r>
          </a:p>
          <a:p>
            <a:pPr marL="114300" indent="0" algn="ctr">
              <a:buNone/>
            </a:pPr>
            <a:endParaRPr lang="en-US" sz="2000" b="1" i="0" u="none" strike="noStrike" cap="none" dirty="0">
              <a:solidFill>
                <a:srgbClr val="000000"/>
              </a:solidFill>
              <a:latin typeface="Times New Roman"/>
              <a:ea typeface="Times New Roman"/>
              <a:cs typeface="Times New Roman"/>
              <a:sym typeface="Times New Roman"/>
            </a:endParaRPr>
          </a:p>
          <a:p>
            <a:pPr marL="114300" indent="0">
              <a:buNone/>
            </a:pPr>
            <a:endParaRPr lang="en-IN" sz="24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20F3BB5-DB47-5D39-B8A8-4A62F699A44A}"/>
              </a:ext>
            </a:extLst>
          </p:cNvPr>
          <p:cNvPicPr>
            <a:picLocks noChangeAspect="1"/>
          </p:cNvPicPr>
          <p:nvPr/>
        </p:nvPicPr>
        <p:blipFill rotWithShape="1">
          <a:blip r:embed="rId2"/>
          <a:srcRect l="1094" t="13053" r="8906" b="10690"/>
          <a:stretch/>
        </p:blipFill>
        <p:spPr>
          <a:xfrm>
            <a:off x="600075" y="1763315"/>
            <a:ext cx="8229601" cy="4086226"/>
          </a:xfrm>
          <a:prstGeom prst="rect">
            <a:avLst/>
          </a:prstGeom>
        </p:spPr>
      </p:pic>
    </p:spTree>
    <p:extLst>
      <p:ext uri="{BB962C8B-B14F-4D97-AF65-F5344CB8AC3E}">
        <p14:creationId xmlns:p14="http://schemas.microsoft.com/office/powerpoint/2010/main" val="4156340965"/>
      </p:ext>
    </p:extLst>
  </p:cSld>
  <p:clrMapOvr>
    <a:masterClrMapping/>
  </p:clrMapOvr>
  <p:transition spd="med">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8EFFF-E5EF-E6F6-4CE4-DE696019DF53}"/>
              </a:ext>
            </a:extLst>
          </p:cNvPr>
          <p:cNvSpPr>
            <a:spLocks noGrp="1"/>
          </p:cNvSpPr>
          <p:nvPr>
            <p:ph type="title"/>
          </p:nvPr>
        </p:nvSpPr>
        <p:spPr>
          <a:xfrm>
            <a:off x="457200" y="-254001"/>
            <a:ext cx="8229600" cy="1143000"/>
          </a:xfrm>
        </p:spPr>
        <p:txBody>
          <a:bodyPr/>
          <a:lstStyle/>
          <a:p>
            <a:r>
              <a:rPr lang="en-US" sz="3600" b="1" dirty="0">
                <a:latin typeface="Times New Roman"/>
                <a:ea typeface="Times New Roman"/>
                <a:cs typeface="Times New Roman"/>
                <a:sym typeface="Times New Roman"/>
              </a:rPr>
              <a:t>5.SNAPSHOTS</a:t>
            </a:r>
            <a:endParaRPr lang="en-IN" sz="3600" dirty="0"/>
          </a:p>
        </p:txBody>
      </p:sp>
      <p:sp>
        <p:nvSpPr>
          <p:cNvPr id="3" name="Text Placeholder 2">
            <a:extLst>
              <a:ext uri="{FF2B5EF4-FFF2-40B4-BE49-F238E27FC236}">
                <a16:creationId xmlns:a16="http://schemas.microsoft.com/office/drawing/2014/main" id="{555827EC-6F7F-BD0F-A100-935D607131E0}"/>
              </a:ext>
            </a:extLst>
          </p:cNvPr>
          <p:cNvSpPr>
            <a:spLocks noGrp="1"/>
          </p:cNvSpPr>
          <p:nvPr>
            <p:ph type="body" idx="1"/>
          </p:nvPr>
        </p:nvSpPr>
        <p:spPr>
          <a:xfrm>
            <a:off x="457199" y="708818"/>
            <a:ext cx="8229600" cy="6149182"/>
          </a:xfrm>
        </p:spPr>
        <p:txBody>
          <a:bodyPr/>
          <a:lstStyle/>
          <a:p>
            <a:pPr marL="114300" indent="0">
              <a:buNone/>
            </a:pPr>
            <a:r>
              <a:rPr lang="en-IN" sz="2800" b="1" dirty="0">
                <a:latin typeface="Times New Roman" panose="02020603050405020304" pitchFamily="18" charset="0"/>
                <a:cs typeface="Times New Roman" panose="02020603050405020304" pitchFamily="18" charset="0"/>
              </a:rPr>
              <a:t>Parkinson’s Disease Prediction Page</a:t>
            </a: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a:p>
            <a:pPr marL="114300" indent="0" algn="ctr">
              <a:buNone/>
            </a:pPr>
            <a:endParaRPr lang="en-US" sz="2400" b="1" i="0" u="none" strike="noStrike" cap="none" dirty="0">
              <a:solidFill>
                <a:srgbClr val="000000"/>
              </a:solidFill>
              <a:latin typeface="Times New Roman"/>
              <a:ea typeface="Times New Roman"/>
              <a:cs typeface="Times New Roman"/>
              <a:sym typeface="Times New Roman"/>
            </a:endParaRPr>
          </a:p>
          <a:p>
            <a:pPr marL="114300" indent="0" algn="ctr">
              <a:buNone/>
            </a:pPr>
            <a:endParaRPr lang="en-US" sz="2400" b="1" dirty="0">
              <a:solidFill>
                <a:srgbClr val="000000"/>
              </a:solidFill>
              <a:latin typeface="Times New Roman"/>
              <a:ea typeface="Times New Roman"/>
              <a:cs typeface="Times New Roman"/>
              <a:sym typeface="Times New Roman"/>
            </a:endParaRPr>
          </a:p>
          <a:p>
            <a:pPr marL="114300" indent="0" algn="ctr">
              <a:buNone/>
            </a:pPr>
            <a:r>
              <a:rPr lang="en-US" sz="2000" b="1" i="0" u="none" strike="noStrike" cap="none" dirty="0">
                <a:solidFill>
                  <a:srgbClr val="000000"/>
                </a:solidFill>
                <a:latin typeface="Times New Roman"/>
                <a:ea typeface="Times New Roman"/>
                <a:cs typeface="Times New Roman"/>
                <a:sym typeface="Times New Roman"/>
              </a:rPr>
              <a:t>Figure 5.6</a:t>
            </a:r>
            <a:r>
              <a:rPr lang="en-US" sz="2000" b="1" dirty="0">
                <a:solidFill>
                  <a:srgbClr val="000000"/>
                </a:solidFill>
                <a:latin typeface="Times New Roman"/>
                <a:ea typeface="Times New Roman"/>
                <a:cs typeface="Times New Roman"/>
                <a:sym typeface="Times New Roman"/>
              </a:rPr>
              <a:t> </a:t>
            </a:r>
            <a:r>
              <a:rPr lang="en-IN" sz="2000" b="1" dirty="0">
                <a:latin typeface="Times New Roman" panose="02020603050405020304" pitchFamily="18" charset="0"/>
                <a:cs typeface="Times New Roman" panose="02020603050405020304" pitchFamily="18" charset="0"/>
              </a:rPr>
              <a:t>Parkinson’s Disease Prediction Page</a:t>
            </a:r>
            <a:endParaRPr lang="en-IN" sz="2400" b="1" dirty="0">
              <a:latin typeface="Times New Roman" panose="02020603050405020304" pitchFamily="18" charset="0"/>
              <a:cs typeface="Times New Roman" panose="02020603050405020304" pitchFamily="18" charset="0"/>
            </a:endParaRPr>
          </a:p>
          <a:p>
            <a:pPr marL="114300" indent="0" algn="ctr">
              <a:buNone/>
            </a:pPr>
            <a:endParaRPr lang="en-IN" sz="2800" b="1" dirty="0">
              <a:latin typeface="Times New Roman" panose="02020603050405020304" pitchFamily="18" charset="0"/>
              <a:cs typeface="Times New Roman" panose="02020603050405020304" pitchFamily="18" charset="0"/>
            </a:endParaRPr>
          </a:p>
          <a:p>
            <a:pPr marL="114300" indent="0">
              <a:buNone/>
            </a:pP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C5F44A9-438D-1015-7CAA-F65E370F3899}"/>
              </a:ext>
            </a:extLst>
          </p:cNvPr>
          <p:cNvPicPr>
            <a:picLocks noChangeAspect="1"/>
          </p:cNvPicPr>
          <p:nvPr/>
        </p:nvPicPr>
        <p:blipFill rotWithShape="1">
          <a:blip r:embed="rId2"/>
          <a:srcRect l="1797" t="11853" r="9611" b="6368"/>
          <a:stretch/>
        </p:blipFill>
        <p:spPr>
          <a:xfrm>
            <a:off x="585786" y="1563289"/>
            <a:ext cx="8101013" cy="4620420"/>
          </a:xfrm>
          <a:prstGeom prst="rect">
            <a:avLst/>
          </a:prstGeom>
        </p:spPr>
      </p:pic>
    </p:spTree>
    <p:extLst>
      <p:ext uri="{BB962C8B-B14F-4D97-AF65-F5344CB8AC3E}">
        <p14:creationId xmlns:p14="http://schemas.microsoft.com/office/powerpoint/2010/main" val="1373884577"/>
      </p:ext>
    </p:extLst>
  </p:cSld>
  <p:clrMapOvr>
    <a:masterClrMapping/>
  </p:clrMapOvr>
  <p:transition spd="med">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7"/>
          <p:cNvSpPr txBox="1">
            <a:spLocks noGrp="1"/>
          </p:cNvSpPr>
          <p:nvPr>
            <p:ph type="title"/>
          </p:nvPr>
        </p:nvSpPr>
        <p:spPr>
          <a:xfrm>
            <a:off x="457200" y="-175543"/>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4000" b="1" dirty="0">
                <a:latin typeface="Times New Roman"/>
                <a:ea typeface="Times New Roman"/>
                <a:cs typeface="Times New Roman"/>
                <a:sym typeface="Times New Roman"/>
              </a:rPr>
              <a:t>6.CONCLUSION</a:t>
            </a:r>
            <a:endParaRPr sz="4000" b="1" dirty="0">
              <a:latin typeface="Times New Roman"/>
              <a:ea typeface="Times New Roman"/>
              <a:cs typeface="Times New Roman"/>
              <a:sym typeface="Times New Roman"/>
            </a:endParaRPr>
          </a:p>
        </p:txBody>
      </p:sp>
      <p:sp>
        <p:nvSpPr>
          <p:cNvPr id="195" name="Google Shape;195;p17"/>
          <p:cNvSpPr txBox="1">
            <a:spLocks noGrp="1"/>
          </p:cNvSpPr>
          <p:nvPr>
            <p:ph type="body" idx="1"/>
          </p:nvPr>
        </p:nvSpPr>
        <p:spPr>
          <a:xfrm>
            <a:off x="457200" y="742950"/>
            <a:ext cx="8229600" cy="5443538"/>
          </a:xfrm>
          <a:prstGeom prst="rect">
            <a:avLst/>
          </a:prstGeom>
          <a:noFill/>
          <a:ln>
            <a:noFill/>
          </a:ln>
        </p:spPr>
        <p:txBody>
          <a:bodyPr spcFirstLastPara="1" wrap="square" lIns="91425" tIns="45700" rIns="91425" bIns="45700" anchor="t" anchorCtr="0">
            <a:noAutofit/>
          </a:bodyPr>
          <a:lstStyle/>
          <a:p>
            <a:pPr marL="457200" lvl="0" indent="-342900" algn="just" rtl="0">
              <a:lnSpc>
                <a:spcPct val="150000"/>
              </a:lnSpc>
              <a:spcBef>
                <a:spcPts val="360"/>
              </a:spcBef>
              <a:spcAft>
                <a:spcPts val="0"/>
              </a:spcAft>
              <a:buSzPts val="1800"/>
              <a:buChar char="•"/>
            </a:pPr>
            <a:r>
              <a:rPr lang="en-US" sz="2800" dirty="0">
                <a:latin typeface="Times New Roman"/>
                <a:ea typeface="Times New Roman"/>
                <a:cs typeface="Times New Roman"/>
                <a:sym typeface="Times New Roman"/>
              </a:rPr>
              <a:t>The internship at </a:t>
            </a:r>
            <a:r>
              <a:rPr lang="en-US" sz="2800" dirty="0" err="1">
                <a:latin typeface="Times New Roman"/>
                <a:ea typeface="Times New Roman"/>
                <a:cs typeface="Times New Roman"/>
                <a:sym typeface="Times New Roman"/>
              </a:rPr>
              <a:t>Techciti</a:t>
            </a:r>
            <a:r>
              <a:rPr lang="en-US" sz="2800" dirty="0">
                <a:latin typeface="Times New Roman"/>
                <a:ea typeface="Times New Roman"/>
                <a:cs typeface="Times New Roman"/>
                <a:sym typeface="Times New Roman"/>
              </a:rPr>
              <a:t> Software Consulting Pvt. Ltd. was a valuable opportunity for me. The experience I gained is significant and beneficial. This internship has given me a clear understanding of what to expect in my future career in the industry.</a:t>
            </a:r>
          </a:p>
          <a:p>
            <a:pPr marL="457200" lvl="0" indent="-342900" algn="just" rtl="0">
              <a:lnSpc>
                <a:spcPct val="150000"/>
              </a:lnSpc>
              <a:spcBef>
                <a:spcPts val="360"/>
              </a:spcBef>
              <a:spcAft>
                <a:spcPts val="0"/>
              </a:spcAft>
              <a:buSzPts val="1800"/>
              <a:buChar char="•"/>
            </a:pPr>
            <a:r>
              <a:rPr lang="en-US" sz="2800" dirty="0">
                <a:latin typeface="Times New Roman"/>
                <a:ea typeface="Times New Roman"/>
                <a:cs typeface="Times New Roman"/>
                <a:sym typeface="Times New Roman"/>
              </a:rPr>
              <a:t>During the project, I learned about front-end basics, the Flask framework, </a:t>
            </a:r>
            <a:r>
              <a:rPr lang="en-US" sz="2800" dirty="0" err="1">
                <a:latin typeface="Times New Roman"/>
                <a:ea typeface="Times New Roman"/>
                <a:cs typeface="Times New Roman"/>
                <a:sym typeface="Times New Roman"/>
              </a:rPr>
              <a:t>Streamlit</a:t>
            </a:r>
            <a:r>
              <a:rPr lang="en-US" sz="2800" dirty="0">
                <a:latin typeface="Times New Roman"/>
                <a:ea typeface="Times New Roman"/>
                <a:cs typeface="Times New Roman"/>
                <a:sym typeface="Times New Roman"/>
              </a:rPr>
              <a:t>, and Machine Learning.</a:t>
            </a:r>
          </a:p>
          <a:p>
            <a:pPr marL="457200" lvl="0" indent="-342900" algn="just" rtl="0">
              <a:lnSpc>
                <a:spcPct val="150000"/>
              </a:lnSpc>
              <a:spcBef>
                <a:spcPts val="360"/>
              </a:spcBef>
              <a:spcAft>
                <a:spcPts val="0"/>
              </a:spcAft>
              <a:buSzPts val="1800"/>
              <a:buChar char="•"/>
            </a:pPr>
            <a:endParaRPr lang="en-US" sz="2800" dirty="0">
              <a:latin typeface="Times New Roman"/>
              <a:ea typeface="Times New Roman"/>
              <a:cs typeface="Times New Roman"/>
              <a:sym typeface="Times New Roman"/>
            </a:endParaRPr>
          </a:p>
          <a:p>
            <a:pPr marL="457200" lvl="0" indent="-342900" algn="just" rtl="0">
              <a:lnSpc>
                <a:spcPct val="150000"/>
              </a:lnSpc>
              <a:spcBef>
                <a:spcPts val="360"/>
              </a:spcBef>
              <a:spcAft>
                <a:spcPts val="0"/>
              </a:spcAft>
              <a:buSzPts val="1800"/>
              <a:buChar char="•"/>
            </a:pPr>
            <a:endParaRPr sz="2800" dirty="0">
              <a:latin typeface="Times New Roman"/>
              <a:ea typeface="Times New Roman"/>
              <a:cs typeface="Times New Roman"/>
              <a:sym typeface="Times New Roman"/>
            </a:endParaRPr>
          </a:p>
        </p:txBody>
      </p:sp>
      <p:sp>
        <p:nvSpPr>
          <p:cNvPr id="196" name="Google Shape;196;p17"/>
          <p:cNvSpPr txBox="1"/>
          <p:nvPr/>
        </p:nvSpPr>
        <p:spPr>
          <a:xfrm>
            <a:off x="8131126" y="6316394"/>
            <a:ext cx="3834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15</a:t>
            </a:r>
            <a:endParaRPr sz="1400" b="0" i="0" u="none" strike="noStrike" cap="none">
              <a:solidFill>
                <a:srgbClr val="000000"/>
              </a:solidFill>
              <a:latin typeface="Arial"/>
              <a:ea typeface="Arial"/>
              <a:cs typeface="Arial"/>
              <a:sym typeface="Arial"/>
            </a:endParaRPr>
          </a:p>
        </p:txBody>
      </p:sp>
    </p:spTree>
  </p:cSld>
  <p:clrMapOvr>
    <a:masterClrMapping/>
  </p:clrMapOvr>
  <p:transition spd="med">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457200" y="-65549"/>
            <a:ext cx="8229600" cy="85397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600" b="1" dirty="0">
                <a:latin typeface="Times New Roman"/>
                <a:ea typeface="Times New Roman"/>
                <a:cs typeface="Times New Roman"/>
                <a:sym typeface="Times New Roman"/>
              </a:rPr>
              <a:t>7. SCOPE FOR FUTURE WORK</a:t>
            </a:r>
            <a:endParaRPr sz="3600" b="1" dirty="0">
              <a:latin typeface="Times New Roman"/>
              <a:ea typeface="Times New Roman"/>
              <a:cs typeface="Times New Roman"/>
              <a:sym typeface="Times New Roman"/>
            </a:endParaRPr>
          </a:p>
        </p:txBody>
      </p:sp>
      <p:sp>
        <p:nvSpPr>
          <p:cNvPr id="202" name="Google Shape;202;p18"/>
          <p:cNvSpPr txBox="1">
            <a:spLocks noGrp="1"/>
          </p:cNvSpPr>
          <p:nvPr>
            <p:ph type="body" idx="1"/>
          </p:nvPr>
        </p:nvSpPr>
        <p:spPr>
          <a:xfrm>
            <a:off x="114300" y="631594"/>
            <a:ext cx="8915400" cy="5883836"/>
          </a:xfrm>
          <a:prstGeom prst="rect">
            <a:avLst/>
          </a:prstGeom>
          <a:noFill/>
          <a:ln>
            <a:noFill/>
          </a:ln>
        </p:spPr>
        <p:txBody>
          <a:bodyPr spcFirstLastPara="1" wrap="square" lIns="91425" tIns="45700" rIns="91425" bIns="45700" anchor="t" anchorCtr="0">
            <a:noAutofit/>
          </a:bodyPr>
          <a:lstStyle/>
          <a:p>
            <a:pPr algn="just">
              <a:lnSpc>
                <a:spcPct val="150000"/>
              </a:lnSpc>
            </a:pPr>
            <a:r>
              <a:rPr lang="en-US" sz="2400" dirty="0">
                <a:latin typeface="Times New Roman" pitchFamily="18" charset="0"/>
                <a:ea typeface="Times New Roman"/>
                <a:cs typeface="Times New Roman" pitchFamily="18" charset="0"/>
                <a:sym typeface="Times New Roman"/>
              </a:rPr>
              <a:t>The future scope involves incorporating diverse data sources such as electronic health records (EHRs), genetic data, environmental factors, and lifestyle information. This integration can provide a more comprehensive view for accurate predictions.</a:t>
            </a:r>
          </a:p>
          <a:p>
            <a:pPr algn="just">
              <a:lnSpc>
                <a:spcPct val="150000"/>
              </a:lnSpc>
            </a:pPr>
            <a:r>
              <a:rPr lang="en-US" sz="2400" dirty="0">
                <a:latin typeface="Times New Roman" pitchFamily="18" charset="0"/>
                <a:ea typeface="Times New Roman"/>
                <a:cs typeface="Times New Roman" pitchFamily="18" charset="0"/>
                <a:sym typeface="Times New Roman"/>
              </a:rPr>
              <a:t>Additionally, exploring and developing more sophisticated machine learning algorithms, such as deep learning, ensemble methods, and reinforcement learning, can improve prediction accuracy and handle complex, high-dimensional data.</a:t>
            </a:r>
          </a:p>
          <a:p>
            <a:pPr algn="just">
              <a:lnSpc>
                <a:spcPct val="150000"/>
              </a:lnSpc>
            </a:pPr>
            <a:r>
              <a:rPr lang="en-US" sz="2400" dirty="0">
                <a:latin typeface="Times New Roman" pitchFamily="18" charset="0"/>
                <a:ea typeface="Times New Roman"/>
                <a:cs typeface="Times New Roman" pitchFamily="18" charset="0"/>
                <a:sym typeface="Times New Roman"/>
              </a:rPr>
              <a:t>Furthermore, implementing systems for real-time monitoring of health parameters and providing personalized feedback and recommendations will be crucial.</a:t>
            </a:r>
          </a:p>
          <a:p>
            <a:pPr algn="l"/>
            <a:endParaRPr sz="2400" dirty="0">
              <a:latin typeface="Times New Roman" pitchFamily="18" charset="0"/>
              <a:ea typeface="Times New Roman"/>
              <a:cs typeface="Times New Roman" pitchFamily="18" charset="0"/>
              <a:sym typeface="Times New Roman"/>
            </a:endParaRPr>
          </a:p>
        </p:txBody>
      </p:sp>
      <p:sp>
        <p:nvSpPr>
          <p:cNvPr id="203" name="Google Shape;203;p18"/>
          <p:cNvSpPr txBox="1"/>
          <p:nvPr/>
        </p:nvSpPr>
        <p:spPr>
          <a:xfrm>
            <a:off x="8342142" y="6358597"/>
            <a:ext cx="3834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16</a:t>
            </a:r>
            <a:endParaRPr sz="1400" b="0" i="0" u="none" strike="noStrike" cap="none">
              <a:solidFill>
                <a:srgbClr val="000000"/>
              </a:solidFill>
              <a:latin typeface="Arial"/>
              <a:ea typeface="Arial"/>
              <a:cs typeface="Arial"/>
              <a:sym typeface="Arial"/>
            </a:endParaRPr>
          </a:p>
        </p:txBody>
      </p:sp>
    </p:spTree>
  </p:cSld>
  <p:clrMapOvr>
    <a:masterClrMapping/>
  </p:clrMapOvr>
  <p:transition spd="med">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9"/>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latin typeface="Times New Roman"/>
                <a:ea typeface="Times New Roman"/>
                <a:cs typeface="Times New Roman"/>
                <a:sym typeface="Times New Roman"/>
              </a:rPr>
              <a:t>THANK YOU</a:t>
            </a:r>
            <a:endParaRPr b="1">
              <a:latin typeface="Times New Roman"/>
              <a:ea typeface="Times New Roman"/>
              <a:cs typeface="Times New Roman"/>
              <a:sym typeface="Times New Roman"/>
            </a:endParaRPr>
          </a:p>
        </p:txBody>
      </p:sp>
    </p:spTree>
  </p:cSld>
  <p:clrMapOvr>
    <a:masterClrMapping/>
  </p:clrMapOvr>
  <p:transition spd="med">
    <p:wipe dir="d"/>
  </p:transition>
</p:sld>
</file>

<file path=ppt/theme/theme1.xml><?xml version="1.0" encoding="utf-8"?>
<a:theme xmlns:a="http://schemas.openxmlformats.org/drawingml/2006/main"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808</TotalTime>
  <Words>691</Words>
  <Application>Microsoft Office PowerPoint</Application>
  <PresentationFormat>On-screen Show (4:3)</PresentationFormat>
  <Paragraphs>140</Paragraphs>
  <Slides>17</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Times New Roman</vt:lpstr>
      <vt:lpstr>Wingdings</vt:lpstr>
      <vt:lpstr>Calibri</vt:lpstr>
      <vt:lpstr>Tahoma</vt:lpstr>
      <vt:lpstr>Arial</vt:lpstr>
      <vt:lpstr>Office Theme</vt:lpstr>
      <vt:lpstr> SDM Institute of Technology ,Ujire Department of Computer Science and Engineering </vt:lpstr>
      <vt:lpstr>Contents</vt:lpstr>
      <vt:lpstr>1.INTRODUCTION</vt:lpstr>
      <vt:lpstr>1.INTRODUCTION</vt:lpstr>
      <vt:lpstr>2.ABOUT COMPANY</vt:lpstr>
      <vt:lpstr>3.WEEKLY REPORT</vt:lpstr>
      <vt:lpstr>4.WORKFLOW</vt:lpstr>
      <vt:lpstr>PowerPoint Presentation</vt:lpstr>
      <vt:lpstr>5.SNAPSHOTS</vt:lpstr>
      <vt:lpstr>5.SNAPSHOTS</vt:lpstr>
      <vt:lpstr>5.SNAPSHOTS</vt:lpstr>
      <vt:lpstr>5.SNAPSHOTS</vt:lpstr>
      <vt:lpstr>5.SNAPSHOTS</vt:lpstr>
      <vt:lpstr>5.SNAPSHOTS</vt:lpstr>
      <vt:lpstr>6.CONCLUSION</vt:lpstr>
      <vt:lpstr>7. SCOPE FOR 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SDM Institute of Technology ,Ujire Department of Computer Science and Engineering</dc:title>
  <dc:creator>Ashika K V</dc:creator>
  <cp:lastModifiedBy>Poornima R Jain</cp:lastModifiedBy>
  <cp:revision>38</cp:revision>
  <dcterms:modified xsi:type="dcterms:W3CDTF">2024-05-27T09:03:06Z</dcterms:modified>
</cp:coreProperties>
</file>